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CBE944-36FA-43D6-8827-4B11254A9E73}">
  <a:tblStyle styleId="{70CBE944-36FA-43D6-8827-4B11254A9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47474"/>
                </a:solidFill>
              </a:rPr>
              <a:t>Tema ove prezentacije je Trusty Bookshelf – iOS aplikacija za upravljanje listom knjiga, koja je napravljena kao demonstracija offline-first arhitekturnog obrasca. Tehnologije koje sam koristila su SwiftUI za UI, Core Data za lokalnu perzistenciju, i Swift Concurrency za sinhronizaciju sa serverom.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897591e0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897591e0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97591e0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97591e0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897591e0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897591e0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47474"/>
                </a:solidFill>
              </a:rPr>
              <a:t>Zamislite situaciju: korisnik je u liftu, ili leti avionom, ili jednostavno ima loš signal. U klasičnom pristupu, aplikacija šalje zahtev na server, čeka odgovor i tek onda ažurira UI. Ako mreže nema – akcija propada, korisnik dobija error poruku, i frustriran je</a:t>
            </a:r>
            <a:r>
              <a:rPr lang="en" sz="1050">
                <a:solidFill>
                  <a:schemeClr val="dk1"/>
                </a:solidFill>
              </a:rPr>
              <a:t>.                                                                                                                                                                                                            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47474"/>
                </a:solidFill>
              </a:rPr>
              <a:t>Offline-first kaže suprotno: lokalna baza je izvor istine, a mreža je bonus. Korisnik klikne 'Sačuvaj' - podaci su odmah lokalno sačuvani i vidljivi. Kada mreža postane dostupna, sinhronizacija se dešava tiho, u pozadini. Korisnik to ne mora ni da primeti.</a:t>
            </a:r>
            <a:endParaRPr sz="1050">
              <a:solidFill>
                <a:srgbClr val="74747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897591e0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897591e0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97591e0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97591e0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97591e0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97591e0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97591e0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897591e0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97591e0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897591e0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897591e0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897591e0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97591e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897591e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97591e0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897591e0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97591e0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897591e0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97591e0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97591e0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897591e0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897591e0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897591e0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897591e0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97591e0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897591e0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897591e0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897591e0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897591e0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897591e0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897591e0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897591e0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897591e0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897591e0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897591e0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897591e0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897591e08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897591e08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897591e0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897591e0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97591e08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897591e08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897591e0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897591e0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007A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260150"/>
            <a:ext cx="8222100" cy="21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Trusty Bookshelf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Offline-first SwiftUI aplikacija sa lokalnim keširanjem</a:t>
            </a:r>
            <a:endParaRPr sz="3022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35606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Anastasija Cvetković 2182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Sadržaj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907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O</a:t>
            </a:r>
            <a:r>
              <a:rPr lang="en" sz="2000">
                <a:solidFill>
                  <a:schemeClr val="dk2"/>
                </a:solidFill>
              </a:rPr>
              <a:t>ffline</a:t>
            </a:r>
            <a:r>
              <a:rPr lang="en" sz="2000">
                <a:solidFill>
                  <a:schemeClr val="dk2"/>
                </a:solidFill>
              </a:rPr>
              <a:t>-first pristup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Ključne komponente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Arhitektura projekta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Core Data i model podataka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Sinhronizacija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Ključni dizajn paterni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Kreiranje projekta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Testiranje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Demonstracija aplikacije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Šta je offline-first?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736725"/>
            <a:ext cx="8222100" cy="28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Lokalna baza je izvor istine, mreža je bonus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Korisnik uvek dobija trenutni odgovor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Podaci se ne gube usled gubitka konekcije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Tri garancije:                       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   1. Aplikacija funkcioniše bez interneta   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   2. UI reaguje momentalno           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   3. Nema gubitka podataka</a:t>
            </a:r>
            <a:endParaRPr sz="2029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Klasičan pristup vs. </a:t>
            </a:r>
            <a:r>
              <a:rPr lang="en" sz="2600"/>
              <a:t>offline-first</a:t>
            </a:r>
            <a:endParaRPr sz="2600"/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171650" y="119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{70CBE944-36FA-43D6-8827-4B11254A9E73}</a:tableStyleId>
              </a:tblPr>
              <a:tblGrid>
                <a:gridCol w="4432500"/>
                <a:gridCol w="4368200"/>
              </a:tblGrid>
              <a:tr h="5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</a:rPr>
                        <a:t>Klasičan pristup</a:t>
                      </a:r>
                      <a:endParaRPr b="1"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</a:rPr>
                        <a:t>Offline-first </a:t>
                      </a:r>
                      <a:endParaRPr b="1"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7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Korisnik klikne na dugme “Sačuvaj”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Korisnik klikne na dugme “Sačuvaj”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6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Aplikacija šalje zahtev na server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Aplikacija upisuje u lokalnu bazu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Čeka odgovor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UI se odmah ažurira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Prikazuje rezultat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Sync se dešava u pozadini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Ključne komponente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SwiftUI + @Observable             →  Reaktivni UI, iOS 17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Core Data / SQLite                     →  Lokalna perzistencija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async/await + @MainActor      →  Thread-safe mrežni sloj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NWPathMonitor                          →  Praćenje mrežne konekcije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JSONPlaceholder                       →  Mock REST API (demo)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XcodeGen                                    →  Generisanje projekta iz YAML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Video Processing Ecosystem-2026-02-17-1112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90050"/>
            <a:ext cx="8839204" cy="7682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Arhitektura projekta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BooksViewModel.swift</a:t>
            </a:r>
            <a:endParaRPr sz="2600"/>
          </a:p>
        </p:txBody>
      </p:sp>
      <p:sp>
        <p:nvSpPr>
          <p:cNvPr id="104" name="Google Shape;104;p19"/>
          <p:cNvSpPr txBox="1"/>
          <p:nvPr/>
        </p:nvSpPr>
        <p:spPr>
          <a:xfrm>
            <a:off x="225425" y="720725"/>
            <a:ext cx="4346700" cy="4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@Observable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class BooksViewModel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{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private(set)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books: [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] = []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errorMessage: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?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showSyncLog: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networkMonitor: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NetworkMonitor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syncService: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SyncService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addBook(title: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author: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rating: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notes: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isRead: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 = persistence.viewContext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entity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BookEntity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(context: context)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book  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.new(title: title, author: author,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rating: rating, notes: notes, isRead: isRead)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entity.update(from: book)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persistence.save(context: context)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fetchBooks()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triggerSyncIfOnline()   </a:t>
            </a: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updateBook(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book: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...)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... }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deleteBook(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book: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{ ... }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575175" y="619050"/>
            <a:ext cx="4461000" cy="4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observeNetworkChanges()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previouslyOnline = networkMonitor.effectivelyOnline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syncObservationTask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0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@MainActor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[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]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!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.isCancelled {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}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withCheckedContinuation { continuation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withObservationTracking {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.networkMonitor.effectivelyOnline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} onChange: {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continuation.resume()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}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isOnline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.networkMonitor.effectivelyOnline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isOnline &amp;&amp; !previouslyOnline {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.syncService.syncPendingBooks()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.fetchBooks()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previouslyOnline = isOnline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Core Data – model podataka</a:t>
            </a:r>
            <a:endParaRPr sz="2600"/>
          </a:p>
        </p:txBody>
      </p:sp>
      <p:sp>
        <p:nvSpPr>
          <p:cNvPr id="111" name="Google Shape;111;p20"/>
          <p:cNvSpPr txBox="1"/>
          <p:nvPr/>
        </p:nvSpPr>
        <p:spPr>
          <a:xfrm>
            <a:off x="320675" y="1117600"/>
            <a:ext cx="86043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 : UUID  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→  generiše uređaj, offline kreiranje    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itle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String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author : String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rating : Int16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isRead : Boolean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notes : String?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syncStatus : String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→  "pending" / "synced" / "failed"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remoteId : Int64 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→  0 = nikad sinhronizovano (sentinel)   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createdAt : Date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updatedAt : Date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Domain model i separacija slojeva</a:t>
            </a:r>
            <a:endParaRPr sz="2600"/>
          </a:p>
        </p:txBody>
      </p:sp>
      <p:sp>
        <p:nvSpPr>
          <p:cNvPr id="117" name="Google Shape;117;p21"/>
          <p:cNvSpPr txBox="1"/>
          <p:nvPr/>
        </p:nvSpPr>
        <p:spPr>
          <a:xfrm>
            <a:off x="177900" y="704725"/>
            <a:ext cx="3873300" cy="4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Book.swift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struct Book: Identifiable 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{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id: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UUID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title: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author: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rating: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notes: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isRead: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syncStatus: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remoteId: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Int64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createdAt: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updatedAt: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}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051300" y="704850"/>
            <a:ext cx="4968900" cy="4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BookEntity+Extensions.swift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extension BookEntity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{                                                         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20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toDomainModel()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{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(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id:         id ??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UUID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(),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title:      title ?? </a:t>
            </a:r>
            <a:r>
              <a:rPr lang="en" sz="120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""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syncStatus: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(rawValue: syncStatus ?? </a:t>
            </a:r>
            <a:r>
              <a:rPr lang="en" sz="120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"pending"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                       ??  .pending,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remoteId:   remoteId,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...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)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20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update(from book: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20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{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.title      = book.title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.syncStatus = book.syncStatus.rawValue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.remoteId   = book.remoteId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...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}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Dva Core Data konteksta</a:t>
            </a:r>
            <a:endParaRPr sz="2600"/>
          </a:p>
        </p:txBody>
      </p:sp>
      <p:sp>
        <p:nvSpPr>
          <p:cNvPr id="124" name="Google Shape;124;p22"/>
          <p:cNvSpPr txBox="1"/>
          <p:nvPr>
            <p:ph idx="4294967295" type="body"/>
          </p:nvPr>
        </p:nvSpPr>
        <p:spPr>
          <a:xfrm>
            <a:off x="471900" y="688975"/>
            <a:ext cx="8222100" cy="43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viewContext (main thread)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Koristi SwiftUI za čitanje i prikaz podataka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Nikad se ne blokira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backgroundContext (pozadinski thread)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Koristi SyncService za pisanje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automaticallyMergesChangesFromParent = true  → pozadinski upisi automatski propagiraju na UI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Rezultat: UI nikad nije blokiran tokom sync-a    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SyncStatus - prelazak iz jednog u drugo stanje</a:t>
            </a:r>
            <a:endParaRPr sz="2600"/>
          </a:p>
        </p:txBody>
      </p:sp>
      <p:pic>
        <p:nvPicPr>
          <p:cNvPr id="130" name="Google Shape;130;p23" title="Video Processing Ecosystem-2026-02-17-115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888" y="755575"/>
            <a:ext cx="4921324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Sinhronizacija</a:t>
            </a:r>
            <a:endParaRPr sz="2600"/>
          </a:p>
        </p:txBody>
      </p:sp>
      <p:sp>
        <p:nvSpPr>
          <p:cNvPr id="136" name="Google Shape;136;p24"/>
          <p:cNvSpPr txBox="1"/>
          <p:nvPr/>
        </p:nvSpPr>
        <p:spPr>
          <a:xfrm>
            <a:off x="182550" y="784225"/>
            <a:ext cx="87789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Okidači: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Kreiranje knjige (ako je online)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Prelaz offline → online (automatski)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Pull-to-refresh (ručno)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Logika po knjizi: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remoteId == 0  →  POST  (nova knjiga)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remoteId  &gt; 0  →  PUT   (izmena postojeće)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Zaštita od duplikata: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guard !isSyncing else { return }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SyncService.swift</a:t>
            </a:r>
            <a:endParaRPr sz="2600"/>
          </a:p>
        </p:txBody>
      </p:sp>
      <p:sp>
        <p:nvSpPr>
          <p:cNvPr id="142" name="Google Shape;142;p25"/>
          <p:cNvSpPr txBox="1"/>
          <p:nvPr/>
        </p:nvSpPr>
        <p:spPr>
          <a:xfrm>
            <a:off x="98250" y="688975"/>
            <a:ext cx="4473600" cy="4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2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syncPendingBooks()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alreadySyncing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MainActor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.run { isSyncing }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!alreadySyncing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MainActor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.run { isSyncing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defer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2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@MainActor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[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]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?.isSyncing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context = persistence.backgroundContext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pending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fetchPendingEntities(context: context)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pending.isEmpty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entity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pending {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syncSingleBook(entity, context: context)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}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4657800" y="800100"/>
            <a:ext cx="4378200" cy="4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currentRemoteId ==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 // New book — CREATE on server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remote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api.createPost(title: title, body: ...)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context.perform {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entity.remoteId 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Int64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(remote.id)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entity.syncStatus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.synced.rawValue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.persistence.save(context: context)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// Existing book — UPDATE on server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remote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api.updatePost(id: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(currentRemoteId), ...)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context.perform {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entity.syncStatus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.synced.rawValue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.persistence.save(context: context)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catch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context.perform {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entity.syncStatus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.failed.rawValue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NetworkMonitor.swift</a:t>
            </a:r>
            <a:endParaRPr sz="2600"/>
          </a:p>
        </p:txBody>
      </p:sp>
      <p:sp>
        <p:nvSpPr>
          <p:cNvPr id="149" name="Google Shape;149;p26"/>
          <p:cNvSpPr txBox="1"/>
          <p:nvPr/>
        </p:nvSpPr>
        <p:spPr>
          <a:xfrm>
            <a:off x="98425" y="800100"/>
            <a:ext cx="3968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@Observable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class NetworkMonitor 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{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private(set)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isConnected: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private(set)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connectionType: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"Unknown"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simulateOffline: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effectivelyOnline: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isConnected &amp;&amp; !simulateOffline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monitor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NWPathMonitor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()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queue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DispatchQueue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(label: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"com.elfak.bookshelf.NetworkMonitor"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,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qos: .utility)    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4194175" y="847725"/>
            <a:ext cx="47307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init</a:t>
            </a:r>
            <a:r>
              <a:rPr lang="en" sz="12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()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monitor.pathUpdateHandler = { [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] path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DispatchQueue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.main.async {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?.isConnected = path.status == .satisfied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?.connectionType = {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path.usesInterfaceType(.wifi)        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"WiFi"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path.usesInterfaceType(.cellular)    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"Cellular"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path.usesInterfaceType(.wiredEthernet){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"Ethernet"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"Other"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}()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monitor.start(queue: queue)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}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@Observable vs. ObservableObject</a:t>
            </a:r>
            <a:endParaRPr sz="2600"/>
          </a:p>
        </p:txBody>
      </p:sp>
      <p:sp>
        <p:nvSpPr>
          <p:cNvPr id="156" name="Google Shape;156;p27"/>
          <p:cNvSpPr txBox="1"/>
          <p:nvPr/>
        </p:nvSpPr>
        <p:spPr>
          <a:xfrm>
            <a:off x="161925" y="847725"/>
            <a:ext cx="88266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rgbClr val="7D7D7D"/>
                </a:solidFill>
              </a:rPr>
              <a:t>@Observable</a:t>
            </a:r>
            <a:r>
              <a:rPr lang="en" sz="1350"/>
              <a:t>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 class BooksViewModel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{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0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books: [</a:t>
            </a:r>
            <a:r>
              <a:rPr lang="en" sz="20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] = []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← nema @Published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}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• Granularno praćenje - re-render samo za property-je koje view stvarno čita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• ObservableObject obaveštavaju sve view-ove pri svakoj promeni bilo kog property-ja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ApiService</a:t>
            </a:r>
            <a:endParaRPr sz="2600"/>
          </a:p>
        </p:txBody>
      </p:sp>
      <p:sp>
        <p:nvSpPr>
          <p:cNvPr id="162" name="Google Shape;162;p28"/>
          <p:cNvSpPr txBox="1"/>
          <p:nvPr/>
        </p:nvSpPr>
        <p:spPr>
          <a:xfrm>
            <a:off x="0" y="800100"/>
            <a:ext cx="49245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APIService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baseURL =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"https://jsonplaceholder.typicode.com"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session: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URLSession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createPost(title: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body: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   userId: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url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(string: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"\(baseURL)/posts"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{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APIError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.badURL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request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URLRequest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(url: url)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request.httpMethod =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"POST"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request.setValue(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"application/json; charset=UTF-8"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,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forHTTPHeaderField: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"Content-Type"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)       </a:t>
            </a:r>
            <a:r>
              <a:rPr lang="en" sz="1350"/>
              <a:t>           </a:t>
            </a:r>
            <a:endParaRPr sz="13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                                                                                </a:t>
            </a:r>
            <a:endParaRPr sz="13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         </a:t>
            </a:r>
            <a:endParaRPr sz="2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781550" y="866775"/>
            <a:ext cx="4270500" cy="4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payload: [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Any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] = [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"title"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title,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"body"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body,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"userId"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userId]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request.httpBody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JSONSerialization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.data(withJSONObject: payload)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(data,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)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session.data(for: request)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JSONDecoder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().decode(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, from: data)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updatePost(id: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title: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body: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-&gt;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... }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deletePost(id: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... }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}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withObservationTracking</a:t>
            </a:r>
            <a:endParaRPr sz="2600"/>
          </a:p>
        </p:txBody>
      </p:sp>
      <p:sp>
        <p:nvSpPr>
          <p:cNvPr id="169" name="Google Shape;169;p29"/>
          <p:cNvSpPr txBox="1"/>
          <p:nvPr/>
        </p:nvSpPr>
        <p:spPr>
          <a:xfrm>
            <a:off x="177800" y="819150"/>
            <a:ext cx="4524300" cy="4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observeNetworkChanges()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previouslyOnline = networkMonitor.effectivelyOnline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syncObservationTask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3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@MainActor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[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]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!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.isCancelled {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}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withCheckedContinuation { continuation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withObservationTracking {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.networkMonitor.effectivelyOnline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} onChange: {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continuation.resume()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}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}            </a:t>
            </a:r>
            <a:r>
              <a:rPr lang="en" sz="1050"/>
              <a:t>                                                     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                                                                                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           </a:t>
            </a:r>
            <a:endParaRPr b="1" sz="1050"/>
          </a:p>
        </p:txBody>
      </p:sp>
      <p:sp>
        <p:nvSpPr>
          <p:cNvPr id="170" name="Google Shape;170;p29"/>
          <p:cNvSpPr txBox="1"/>
          <p:nvPr/>
        </p:nvSpPr>
        <p:spPr>
          <a:xfrm>
            <a:off x="4829175" y="882650"/>
            <a:ext cx="40956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 isOnline =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.networkMonitor.effectivelyOnline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 isOnline &amp;&amp; !previouslyOnline {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.syncService.syncPendingBooks()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.fetchBooks()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previouslyOnline = isOnline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}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Kreiranje i inicijalizacija projekta</a:t>
            </a:r>
            <a:endParaRPr sz="2600"/>
          </a:p>
        </p:txBody>
      </p:sp>
      <p:sp>
        <p:nvSpPr>
          <p:cNvPr id="176" name="Google Shape;176;p30"/>
          <p:cNvSpPr txBox="1"/>
          <p:nvPr/>
        </p:nvSpPr>
        <p:spPr>
          <a:xfrm>
            <a:off x="193675" y="723900"/>
            <a:ext cx="8731200" cy="4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Preduslovi: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Xcode 15+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iOS 17.0 simulator ili uređaj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Homebrew + XcodeGen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macOS Sonoma ili noviji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Inicijalizacija projekta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1. Instaliranje XcodeGen-a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brew install xcodegen         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2. Kloniranje repozitorijuma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git clone &lt;repo-url&gt;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cd elfak-advanced-software-engineering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Generisanje i pokretanje</a:t>
            </a:r>
            <a:endParaRPr sz="2600"/>
          </a:p>
        </p:txBody>
      </p:sp>
      <p:sp>
        <p:nvSpPr>
          <p:cNvPr id="182" name="Google Shape;182;p31"/>
          <p:cNvSpPr txBox="1"/>
          <p:nvPr/>
        </p:nvSpPr>
        <p:spPr>
          <a:xfrm>
            <a:off x="225425" y="898525"/>
            <a:ext cx="86994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3. Generisanje Xcode projekta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xcodegen generate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4. Otvaranje projekta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open “Trusty Bookshelf.xcodeproj”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5. Pokretanje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Xcode → Run (⌘R)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Struktura fajlova</a:t>
            </a:r>
            <a:endParaRPr sz="2600"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525" y="771450"/>
            <a:ext cx="2743679" cy="421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350" y="1292188"/>
            <a:ext cx="3145950" cy="31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Testiranje</a:t>
            </a:r>
            <a:endParaRPr sz="2600"/>
          </a:p>
        </p:txBody>
      </p:sp>
      <p:sp>
        <p:nvSpPr>
          <p:cNvPr id="195" name="Google Shape;195;p33"/>
          <p:cNvSpPr txBox="1"/>
          <p:nvPr/>
        </p:nvSpPr>
        <p:spPr>
          <a:xfrm>
            <a:off x="241300" y="930275"/>
            <a:ext cx="8683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18 unit testova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BooksViewModelTests (9)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addBook_whileOffline_isPending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updateBook_marksPending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deleteBook_onlyRemovesTargetBook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SyncServiceTests (9)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failedBooks_areRetried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concurrentSyncCalls_doNotDuplicate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newBook_usesCreate / existingBook_usesUpdate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Test strategija - SyncServiceTests.swift</a:t>
            </a:r>
            <a:endParaRPr sz="2600"/>
          </a:p>
        </p:txBody>
      </p:sp>
      <p:sp>
        <p:nvSpPr>
          <p:cNvPr id="201" name="Google Shape;201;p34"/>
          <p:cNvSpPr txBox="1"/>
          <p:nvPr/>
        </p:nvSpPr>
        <p:spPr>
          <a:xfrm>
            <a:off x="161925" y="771525"/>
            <a:ext cx="44100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class MockAPIService: APIService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{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shouldFail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createCallCount 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updateCallCount 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createPost(title: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body: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            userId: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createCallCount +=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shouldFail {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APIError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.networkError(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URLError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(.notConnectedToInternet))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(id: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, title: title, body: body, userId: userId)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updatePost(id: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title: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            body: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updateCallCount +=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shouldFail {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APIError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.networkError(...) }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(id: id, title: title, body: body, userId: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)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4572000" y="835025"/>
            <a:ext cx="4353000" cy="4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// setUp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persistence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PersistenceController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(inMemory: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)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mockAPI   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MockAPIService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()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syncService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SyncService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(persistence: persistence, api: mockAPI)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Roboto"/>
                <a:ea typeface="Roboto"/>
                <a:cs typeface="Roboto"/>
                <a:sym typeface="Roboto"/>
              </a:rPr>
              <a:t> Jedan konkretan test:  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1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test_concurrentSyncCalls_doNotDuplicate()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{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ctx = persistence.viewContext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= makeEntity(in: ctx, title: </a:t>
            </a:r>
            <a:r>
              <a:rPr lang="en" sz="11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"Once Only"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)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ctx.save()           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first  = syncService.syncPendingBooks()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second = syncService.syncPendingBooks()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(first, second)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XCTAssertLessThanOrEqual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(mockAPI.createCallCount, </a:t>
            </a:r>
            <a:r>
              <a:rPr lang="en" sz="11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,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1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"Concurrent sync calls must not duplicate API requests"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)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}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Pokretanje testova</a:t>
            </a:r>
            <a:endParaRPr sz="2600"/>
          </a:p>
        </p:txBody>
      </p:sp>
      <p:sp>
        <p:nvSpPr>
          <p:cNvPr id="208" name="Google Shape;208;p35"/>
          <p:cNvSpPr txBox="1"/>
          <p:nvPr/>
        </p:nvSpPr>
        <p:spPr>
          <a:xfrm>
            <a:off x="177800" y="882650"/>
            <a:ext cx="8715300" cy="3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 Xcode-u: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Product → Test  (⌘U)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Iz terminala: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xcodebuild test \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-project “Trusty Bookshelf.xcodeproj” \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-scheme Bookshelf \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-destination 'platform=iOS Simulator,name=iPhone 15 Pro'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Ograničenja i unapređenja</a:t>
            </a:r>
            <a:endParaRPr sz="2600"/>
          </a:p>
        </p:txBody>
      </p:sp>
      <p:sp>
        <p:nvSpPr>
          <p:cNvPr id="214" name="Google Shape;214;p36"/>
          <p:cNvSpPr txBox="1"/>
          <p:nvPr/>
        </p:nvSpPr>
        <p:spPr>
          <a:xfrm>
            <a:off x="177800" y="819150"/>
            <a:ext cx="87471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Ograničenja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Nema autentifikacije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Mock API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Last-Write-Wins merge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Nema background sync između pokretanja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Unapređenja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SwiftData (naslednik CoreData)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Cloudkit (Apple-ov sync)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CRDTs za kolaboraciju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Šifrovanje lokalne baze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Demonstracija aplikacije</a:t>
            </a:r>
            <a:endParaRPr/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