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y="5143500" cx="9144000"/>
  <p:notesSz cx="6858000" cy="9144000"/>
  <p:embeddedFontLst>
    <p:embeddedFont>
      <p:font typeface="Roboto"/>
      <p:regular r:id="rId33"/>
      <p:bold r:id="rId34"/>
      <p:italic r:id="rId35"/>
      <p:boldItalic r:id="rId3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1A0CCFF-9251-4D42-8BFA-0C5E26F74129}">
  <a:tblStyle styleId="{D1A0CCFF-9251-4D42-8BFA-0C5E26F7412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font" Target="fonts/Roboto-regular.fntdata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font" Target="fonts/Roboto-italic.fntdata"/><Relationship Id="rId12" Type="http://schemas.openxmlformats.org/officeDocument/2006/relationships/slide" Target="slides/slide6.xml"/><Relationship Id="rId34" Type="http://schemas.openxmlformats.org/officeDocument/2006/relationships/font" Target="fonts/Roboto-bold.fntdata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font" Target="fonts/Roboto-boldItalic.fntdata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c6f73a04f_0_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c6f73a04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747474"/>
                </a:solidFill>
              </a:rPr>
              <a:t>Tema ove prezentacije je Trusty Bookshelf – iOS aplikacija za upravljanje listom knjiga, koja je napravljena kao demonstracija offline-first arhitekturnog obrasca. Tehnologije koje sam koristila su SwiftUI za UI, Core Data za lokalnu perzistenciju, i Swift Concurrency za sinhronizaciju sa serverom.</a:t>
            </a:r>
            <a:endParaRPr sz="105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c897591e08_0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c897591e08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c897591e08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c897591e08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c897591e08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c897591e08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747474"/>
                </a:solidFill>
              </a:rPr>
              <a:t>Zamislite situaciju: korisnik je u liftu, ili leti avionom, ili jednostavno ima loš signal. U klasičnom pristupu, aplikacija šalje zahtev na server, čeka odgovor i tek onda ažurira UI. Ako mreže nema – akcija propada, korisnik dobija error poruku, i frustriran je</a:t>
            </a:r>
            <a:r>
              <a:rPr lang="en" sz="1050">
                <a:solidFill>
                  <a:schemeClr val="dk1"/>
                </a:solidFill>
              </a:rPr>
              <a:t>.                                                                                                                                                                                                            </a:t>
            </a:r>
            <a:endParaRPr sz="105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747474"/>
                </a:solidFill>
              </a:rPr>
              <a:t>Offline-first kaže suprotno: lokalna baza je izvor istine, a mreža je bonus. Korisnik klikne 'Sačuvaj' - podaci su odmah lokalno sačuvani i vidljivi. Kada mreža postane dostupna, sinhronizacija se dešava tiho, u pozadini. Korisnik to ne mora ni da primeti.</a:t>
            </a:r>
            <a:endParaRPr sz="1050">
              <a:solidFill>
                <a:srgbClr val="747474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c897591e08_0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c897591e08_0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c897591e08_0_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c897591e08_0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c897591e08_0_1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c897591e08_0_1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897591e08_0_1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897591e08_0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c897591e08_0_1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c897591e08_0_1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c897591e08_0_1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c897591e08_0_1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c897591e08_0_1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c897591e08_0_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c897591e08_0_1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c897591e08_0_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c897591e08_0_1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c897591e08_0_1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c897591e08_0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c897591e08_0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c897591e08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c897591e08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c897591e08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c897591e08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c897591e08_0_1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c897591e08_0_1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c897591e08_0_1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c897591e08_0_1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c897591e08_0_1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c897591e08_0_1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c897591e08_0_1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c897591e08_0_1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c897591e08_0_2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c897591e08_0_2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c897591e08_0_2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c897591e08_0_2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897591e08_0_2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897591e08_0_2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c897591e08_0_2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c897591e08_0_2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c897591e08_0_2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3c897591e08_0_2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c897591e08_0_2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3c897591e08_0_2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flipH="1">
            <a:off x="8246400" y="4245925"/>
            <a:ext cx="897600" cy="8976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8246400" y="4245875"/>
            <a:ext cx="897600" cy="897600"/>
          </a:xfrm>
          <a:prstGeom prst="round1Rect">
            <a:avLst>
              <a:gd fmla="val 16667" name="adj"/>
            </a:avLst>
          </a:prstGeom>
          <a:solidFill>
            <a:schemeClr val="lt1">
              <a:alpha val="6808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 txBox="1"/>
          <p:nvPr>
            <p:ph type="ctrTitle"/>
          </p:nvPr>
        </p:nvSpPr>
        <p:spPr>
          <a:xfrm>
            <a:off x="390525" y="1819275"/>
            <a:ext cx="8222100" cy="933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390525" y="2789130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title"/>
          </p:nvPr>
        </p:nvSpPr>
        <p:spPr>
          <a:xfrm>
            <a:off x="460950" y="2065350"/>
            <a:ext cx="8222100" cy="101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7" name="Google Shape;17;p3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 flipH="1" rot="10800000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4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4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" type="body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/>
          <p:nvPr/>
        </p:nvSpPr>
        <p:spPr>
          <a:xfrm flipH="1" rot="10800000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5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5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1" type="body"/>
          </p:nvPr>
        </p:nvSpPr>
        <p:spPr>
          <a:xfrm>
            <a:off x="471900" y="1919075"/>
            <a:ext cx="39999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5"/>
          <p:cNvSpPr txBox="1"/>
          <p:nvPr>
            <p:ph idx="2" type="body"/>
          </p:nvPr>
        </p:nvSpPr>
        <p:spPr>
          <a:xfrm>
            <a:off x="4694250" y="1919075"/>
            <a:ext cx="39999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0" name="Google Shape;30;p5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/>
          <p:nvPr/>
        </p:nvSpPr>
        <p:spPr>
          <a:xfrm flipH="1" rot="10800000">
            <a:off x="0" y="656400"/>
            <a:ext cx="9144000" cy="448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6"/>
          <p:cNvSpPr/>
          <p:nvPr/>
        </p:nvSpPr>
        <p:spPr>
          <a:xfrm>
            <a:off x="0" y="65635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6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/>
        </p:nvSpPr>
        <p:spPr>
          <a:xfrm flipH="1" rot="10800000">
            <a:off x="3276600" y="25"/>
            <a:ext cx="58674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7"/>
          <p:cNvSpPr/>
          <p:nvPr/>
        </p:nvSpPr>
        <p:spPr>
          <a:xfrm rot="-5400000">
            <a:off x="759150" y="2517450"/>
            <a:ext cx="51435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7"/>
          <p:cNvSpPr txBox="1"/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0" name="Google Shape;40;p7"/>
          <p:cNvSpPr txBox="1"/>
          <p:nvPr>
            <p:ph idx="1" type="body"/>
          </p:nvPr>
        </p:nvSpPr>
        <p:spPr>
          <a:xfrm>
            <a:off x="226075" y="1465800"/>
            <a:ext cx="2808000" cy="31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" name="Google Shape;41;p7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/>
          <p:nvPr>
            <p:ph type="title"/>
          </p:nvPr>
        </p:nvSpPr>
        <p:spPr>
          <a:xfrm>
            <a:off x="490250" y="488250"/>
            <a:ext cx="62271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44" name="Google Shape;44;p8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/>
          <p:nvPr/>
        </p:nvSpPr>
        <p:spPr>
          <a:xfrm flipH="1">
            <a:off x="0" y="0"/>
            <a:ext cx="4572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9"/>
          <p:cNvSpPr/>
          <p:nvPr/>
        </p:nvSpPr>
        <p:spPr>
          <a:xfrm rot="5400000">
            <a:off x="1946425" y="2517750"/>
            <a:ext cx="51429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49" name="Google Shape;49;p9"/>
          <p:cNvSpPr txBox="1"/>
          <p:nvPr>
            <p:ph idx="1" type="subTitle"/>
          </p:nvPr>
        </p:nvSpPr>
        <p:spPr>
          <a:xfrm>
            <a:off x="265500" y="2779467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50" name="Google Shape;50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1" name="Google Shape;51;p9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0"/>
          <p:cNvSpPr txBox="1"/>
          <p:nvPr/>
        </p:nvSpPr>
        <p:spPr>
          <a:xfrm flipH="1" rot="10800000">
            <a:off x="0" y="0"/>
            <a:ext cx="9144000" cy="4695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10"/>
          <p:cNvSpPr/>
          <p:nvPr/>
        </p:nvSpPr>
        <p:spPr>
          <a:xfrm flipH="1" rot="10800000">
            <a:off x="0" y="4622725"/>
            <a:ext cx="9144000" cy="741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10"/>
          <p:cNvSpPr txBox="1"/>
          <p:nvPr>
            <p:ph idx="1" type="body"/>
          </p:nvPr>
        </p:nvSpPr>
        <p:spPr>
          <a:xfrm>
            <a:off x="57150" y="4696825"/>
            <a:ext cx="8382000" cy="44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</a:lstStyle>
          <a:p/>
        </p:txBody>
      </p:sp>
      <p:sp>
        <p:nvSpPr>
          <p:cNvPr id="56" name="Google Shape;56;p10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1"/>
          <p:cNvSpPr txBox="1"/>
          <p:nvPr>
            <p:ph hasCustomPrompt="1" type="title"/>
          </p:nvPr>
        </p:nvSpPr>
        <p:spPr>
          <a:xfrm>
            <a:off x="475500" y="1258525"/>
            <a:ext cx="82221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" name="Google Shape;59;p11"/>
          <p:cNvSpPr txBox="1"/>
          <p:nvPr>
            <p:ph idx="1" type="body"/>
          </p:nvPr>
        </p:nvSpPr>
        <p:spPr>
          <a:xfrm>
            <a:off x="475500" y="3304625"/>
            <a:ext cx="82221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0" name="Google Shape;60;p11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2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material">
    <p:bg>
      <p:bgPr>
        <a:solidFill>
          <a:srgbClr val="007AFF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●"/>
              <a:defRPr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://drive.google.com/file/d/1I1Lfr_kGRYE2FRcI3Uj-G5JPXTzlKA-E/view" TargetMode="External"/><Relationship Id="rId4" Type="http://schemas.openxmlformats.org/officeDocument/2006/relationships/image" Target="../media/image4.jp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ctrTitle"/>
          </p:nvPr>
        </p:nvSpPr>
        <p:spPr>
          <a:xfrm>
            <a:off x="390525" y="1260150"/>
            <a:ext cx="8222100" cy="213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Trusty Bookshelf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Offline-first SwiftUI aplikacija sa lokalnim keširanjem</a:t>
            </a:r>
            <a:endParaRPr sz="3022"/>
          </a:p>
        </p:txBody>
      </p:sp>
      <p:sp>
        <p:nvSpPr>
          <p:cNvPr id="68" name="Google Shape;68;p13"/>
          <p:cNvSpPr txBox="1"/>
          <p:nvPr>
            <p:ph idx="1" type="subTitle"/>
          </p:nvPr>
        </p:nvSpPr>
        <p:spPr>
          <a:xfrm>
            <a:off x="390525" y="3560655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/>
              <a:t>Anastasija Cvetković 2182</a:t>
            </a:r>
            <a:endParaRPr sz="24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Sadržaj</a:t>
            </a:r>
            <a:endParaRPr/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471900" y="1919075"/>
            <a:ext cx="8222100" cy="2907000"/>
          </a:xfrm>
          <a:prstGeom prst="rect">
            <a:avLst/>
          </a:prstGeom>
          <a:solidFill>
            <a:schemeClr val="accent4"/>
          </a:solidFill>
          <a:ln cap="flat" cmpd="sng" w="952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lang="en" sz="2000">
                <a:solidFill>
                  <a:schemeClr val="dk2"/>
                </a:solidFill>
              </a:rPr>
              <a:t>O</a:t>
            </a:r>
            <a:r>
              <a:rPr lang="en" sz="2000">
                <a:solidFill>
                  <a:schemeClr val="dk2"/>
                </a:solidFill>
              </a:rPr>
              <a:t>ffline</a:t>
            </a:r>
            <a:r>
              <a:rPr lang="en" sz="2000">
                <a:solidFill>
                  <a:schemeClr val="dk2"/>
                </a:solidFill>
              </a:rPr>
              <a:t>-first pristup</a:t>
            </a:r>
            <a:endParaRPr sz="2000">
              <a:solidFill>
                <a:schemeClr val="dk2"/>
              </a:solidFill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lang="en" sz="2000">
                <a:solidFill>
                  <a:schemeClr val="dk2"/>
                </a:solidFill>
              </a:rPr>
              <a:t>Ključne komponente</a:t>
            </a:r>
            <a:endParaRPr sz="2000">
              <a:solidFill>
                <a:schemeClr val="dk2"/>
              </a:solidFill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lang="en" sz="2000">
                <a:solidFill>
                  <a:schemeClr val="dk2"/>
                </a:solidFill>
              </a:rPr>
              <a:t>Arhitektura projekta</a:t>
            </a:r>
            <a:endParaRPr sz="2000">
              <a:solidFill>
                <a:schemeClr val="dk2"/>
              </a:solidFill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lang="en" sz="2000">
                <a:solidFill>
                  <a:schemeClr val="dk2"/>
                </a:solidFill>
              </a:rPr>
              <a:t>Core Data i model podataka</a:t>
            </a:r>
            <a:endParaRPr sz="2000">
              <a:solidFill>
                <a:schemeClr val="dk2"/>
              </a:solidFill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lang="en" sz="2000">
                <a:solidFill>
                  <a:schemeClr val="dk2"/>
                </a:solidFill>
              </a:rPr>
              <a:t>Sinhronizacija</a:t>
            </a:r>
            <a:endParaRPr sz="2000">
              <a:solidFill>
                <a:schemeClr val="dk2"/>
              </a:solidFill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lang="en" sz="2000">
                <a:solidFill>
                  <a:schemeClr val="dk2"/>
                </a:solidFill>
              </a:rPr>
              <a:t>Ključni dizajn paterni</a:t>
            </a:r>
            <a:endParaRPr sz="2000">
              <a:solidFill>
                <a:schemeClr val="dk2"/>
              </a:solidFill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lang="en" sz="2000">
                <a:solidFill>
                  <a:schemeClr val="dk2"/>
                </a:solidFill>
              </a:rPr>
              <a:t>Kreiranje projekta</a:t>
            </a:r>
            <a:endParaRPr sz="2000">
              <a:solidFill>
                <a:schemeClr val="dk2"/>
              </a:solidFill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lang="en" sz="2000">
                <a:solidFill>
                  <a:schemeClr val="dk2"/>
                </a:solidFill>
              </a:rPr>
              <a:t>Testiranje</a:t>
            </a:r>
            <a:endParaRPr sz="2000">
              <a:solidFill>
                <a:schemeClr val="dk2"/>
              </a:solidFill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lang="en" sz="2000">
                <a:solidFill>
                  <a:schemeClr val="dk2"/>
                </a:solidFill>
              </a:rPr>
              <a:t>Demonstracija aplikacije</a:t>
            </a:r>
            <a:endParaRPr sz="2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Šta je offline-first?</a:t>
            </a:r>
            <a:endParaRPr/>
          </a:p>
        </p:txBody>
      </p:sp>
      <p:sp>
        <p:nvSpPr>
          <p:cNvPr id="80" name="Google Shape;80;p15"/>
          <p:cNvSpPr txBox="1"/>
          <p:nvPr>
            <p:ph idx="1" type="body"/>
          </p:nvPr>
        </p:nvSpPr>
        <p:spPr>
          <a:xfrm>
            <a:off x="471900" y="1736725"/>
            <a:ext cx="8222100" cy="28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lang="en" sz="2029">
                <a:solidFill>
                  <a:schemeClr val="dk2"/>
                </a:solidFill>
              </a:rPr>
              <a:t>• Lokalna baza je izvor istine, mreža je bonus                                                                                                                    </a:t>
            </a:r>
            <a:endParaRPr sz="2029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935"/>
              <a:buNone/>
            </a:pPr>
            <a:r>
              <a:rPr lang="en" sz="2029">
                <a:solidFill>
                  <a:schemeClr val="dk2"/>
                </a:solidFill>
              </a:rPr>
              <a:t>• Korisnik uvek dobija trenutni odgovor                                                                                                                           </a:t>
            </a:r>
            <a:endParaRPr sz="2029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935"/>
              <a:buNone/>
            </a:pPr>
            <a:r>
              <a:rPr lang="en" sz="2029">
                <a:solidFill>
                  <a:schemeClr val="dk2"/>
                </a:solidFill>
              </a:rPr>
              <a:t>• Podaci se ne gube usled gubitka konekcije                                                                                                                       </a:t>
            </a:r>
            <a:endParaRPr sz="2029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935"/>
              <a:buNone/>
            </a:pPr>
            <a:r>
              <a:rPr lang="en" sz="2029">
                <a:solidFill>
                  <a:schemeClr val="dk2"/>
                </a:solidFill>
              </a:rPr>
              <a:t>• Tri garancije:                                                                                                                                                  </a:t>
            </a:r>
            <a:endParaRPr sz="2029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935"/>
              <a:buNone/>
            </a:pPr>
            <a:r>
              <a:rPr lang="en" sz="2029">
                <a:solidFill>
                  <a:schemeClr val="dk2"/>
                </a:solidFill>
              </a:rPr>
              <a:t>   1. Aplikacija funkcioniše bez interneta                                                                                                                              </a:t>
            </a:r>
            <a:endParaRPr sz="2029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935"/>
              <a:buNone/>
            </a:pPr>
            <a:r>
              <a:rPr lang="en" sz="2029">
                <a:solidFill>
                  <a:schemeClr val="dk2"/>
                </a:solidFill>
              </a:rPr>
              <a:t>   2. UI reaguje momentalno                                                                                                                                      </a:t>
            </a:r>
            <a:endParaRPr sz="2029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935"/>
              <a:buNone/>
            </a:pPr>
            <a:r>
              <a:rPr lang="en" sz="2029">
                <a:solidFill>
                  <a:schemeClr val="dk2"/>
                </a:solidFill>
              </a:rPr>
              <a:t>   3. Nema gubitka podataka</a:t>
            </a:r>
            <a:endParaRPr sz="2029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/>
              <a:t>Klasičan pristup vs. </a:t>
            </a:r>
            <a:r>
              <a:rPr lang="en" sz="2600"/>
              <a:t>offline-first</a:t>
            </a:r>
            <a:endParaRPr sz="2600"/>
          </a:p>
        </p:txBody>
      </p:sp>
      <p:graphicFrame>
        <p:nvGraphicFramePr>
          <p:cNvPr id="86" name="Google Shape;86;p16"/>
          <p:cNvGraphicFramePr/>
          <p:nvPr/>
        </p:nvGraphicFramePr>
        <p:xfrm>
          <a:off x="171650" y="11908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{D1A0CCFF-9251-4D42-8BFA-0C5E26F74129}</a:tableStyleId>
              </a:tblPr>
              <a:tblGrid>
                <a:gridCol w="4432500"/>
                <a:gridCol w="4368200"/>
              </a:tblGrid>
              <a:tr h="5911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>
                          <a:solidFill>
                            <a:schemeClr val="dk2"/>
                          </a:solidFill>
                        </a:rPr>
                        <a:t>Klasičan pristup</a:t>
                      </a:r>
                      <a:endParaRPr b="1" sz="2000">
                        <a:solidFill>
                          <a:schemeClr val="dk2"/>
                        </a:solidFill>
                      </a:endParaRPr>
                    </a:p>
                  </a:txBody>
                  <a:tcPr marT="91425" marB="91425" marR="91425" marL="91425" anchor="ctr"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>
                          <a:solidFill>
                            <a:schemeClr val="dk2"/>
                          </a:solidFill>
                        </a:rPr>
                        <a:t>Offline-first </a:t>
                      </a:r>
                      <a:endParaRPr b="1" sz="2000">
                        <a:solidFill>
                          <a:schemeClr val="dk2"/>
                        </a:solidFill>
                      </a:endParaRPr>
                    </a:p>
                  </a:txBody>
                  <a:tcPr marT="91425" marB="91425" marR="91425" marL="91425" anchor="ctr">
                    <a:solidFill>
                      <a:schemeClr val="lt1"/>
                    </a:solidFill>
                  </a:tcPr>
                </a:tc>
              </a:tr>
              <a:tr h="6748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solidFill>
                            <a:schemeClr val="dk2"/>
                          </a:solidFill>
                        </a:rPr>
                        <a:t>Korisnik klikne na dugme “Sačuvaj”</a:t>
                      </a:r>
                      <a:endParaRPr sz="2000">
                        <a:solidFill>
                          <a:schemeClr val="dk2"/>
                        </a:solidFill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solidFill>
                            <a:schemeClr val="dk2"/>
                          </a:solidFill>
                        </a:rPr>
                        <a:t>Korisnik klikne na dugme “Sačuvaj”</a:t>
                      </a:r>
                      <a:endParaRPr sz="2000">
                        <a:solidFill>
                          <a:schemeClr val="dk2"/>
                        </a:solidFill>
                      </a:endParaRPr>
                    </a:p>
                  </a:txBody>
                  <a:tcPr marT="91425" marB="91425" marR="91425" marL="91425" anchor="ctr"/>
                </a:tc>
              </a:tr>
              <a:tr h="5684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solidFill>
                            <a:schemeClr val="dk2"/>
                          </a:solidFill>
                        </a:rPr>
                        <a:t>Aplikacija šalje zahtev na server</a:t>
                      </a:r>
                      <a:endParaRPr sz="2000">
                        <a:solidFill>
                          <a:schemeClr val="dk2"/>
                        </a:solidFill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solidFill>
                            <a:schemeClr val="dk2"/>
                          </a:solidFill>
                        </a:rPr>
                        <a:t>Aplikacija upisuje u lokalnu bazu</a:t>
                      </a:r>
                      <a:endParaRPr sz="2000">
                        <a:solidFill>
                          <a:schemeClr val="dk2"/>
                        </a:solidFill>
                      </a:endParaRPr>
                    </a:p>
                  </a:txBody>
                  <a:tcPr marT="91425" marB="91425" marR="91425" marL="91425" anchor="ctr"/>
                </a:tc>
              </a:tr>
              <a:tr h="6831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solidFill>
                            <a:schemeClr val="dk2"/>
                          </a:solidFill>
                        </a:rPr>
                        <a:t>Čeka odgovor</a:t>
                      </a:r>
                      <a:endParaRPr sz="2000">
                        <a:solidFill>
                          <a:schemeClr val="dk2"/>
                        </a:solidFill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solidFill>
                            <a:schemeClr val="dk2"/>
                          </a:solidFill>
                        </a:rPr>
                        <a:t>UI se odmah ažurira</a:t>
                      </a:r>
                      <a:endParaRPr sz="2000">
                        <a:solidFill>
                          <a:schemeClr val="dk2"/>
                        </a:solidFill>
                      </a:endParaRPr>
                    </a:p>
                  </a:txBody>
                  <a:tcPr marT="91425" marB="91425" marR="91425" marL="91425" anchor="ctr"/>
                </a:tc>
              </a:tr>
              <a:tr h="6831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solidFill>
                            <a:schemeClr val="dk2"/>
                          </a:solidFill>
                        </a:rPr>
                        <a:t>Prikazuje rezultat</a:t>
                      </a:r>
                      <a:endParaRPr sz="2000">
                        <a:solidFill>
                          <a:schemeClr val="dk2"/>
                        </a:solidFill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solidFill>
                            <a:schemeClr val="dk2"/>
                          </a:solidFill>
                        </a:rPr>
                        <a:t>Sync se dešava u pozadini</a:t>
                      </a:r>
                      <a:endParaRPr sz="2000">
                        <a:solidFill>
                          <a:schemeClr val="dk2"/>
                        </a:solidFill>
                      </a:endParaRPr>
                    </a:p>
                  </a:txBody>
                  <a:tcPr marT="91425" marB="91425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Ključne komponente</a:t>
            </a:r>
            <a:endParaRPr/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●"/>
            </a:pPr>
            <a:r>
              <a:rPr lang="en" sz="2000">
                <a:solidFill>
                  <a:schemeClr val="dk2"/>
                </a:solidFill>
              </a:rPr>
              <a:t>SwiftUI + @Observable             →  Reaktivni UI, iOS 17                                                                                                                   </a:t>
            </a:r>
            <a:endParaRPr sz="2000">
              <a:solidFill>
                <a:schemeClr val="dk2"/>
              </a:solidFill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●"/>
            </a:pPr>
            <a:r>
              <a:rPr lang="en" sz="2000">
                <a:solidFill>
                  <a:schemeClr val="dk2"/>
                </a:solidFill>
              </a:rPr>
              <a:t>Core Data / SQLite                     →  Lokalna perzistencija                                                                                                                  </a:t>
            </a:r>
            <a:endParaRPr sz="2000">
              <a:solidFill>
                <a:schemeClr val="dk2"/>
              </a:solidFill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●"/>
            </a:pPr>
            <a:r>
              <a:rPr lang="en" sz="2000">
                <a:solidFill>
                  <a:schemeClr val="dk2"/>
                </a:solidFill>
              </a:rPr>
              <a:t>async/await + @MainActor      →  Thread-safe mrežni sloj                                                                                                                </a:t>
            </a:r>
            <a:endParaRPr sz="2000">
              <a:solidFill>
                <a:schemeClr val="dk2"/>
              </a:solidFill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●"/>
            </a:pPr>
            <a:r>
              <a:rPr lang="en" sz="2000">
                <a:solidFill>
                  <a:schemeClr val="dk2"/>
                </a:solidFill>
              </a:rPr>
              <a:t>NWPathMonitor                          →  Praćenje mrežne konekcije                                                                                                              </a:t>
            </a:r>
            <a:endParaRPr sz="2000">
              <a:solidFill>
                <a:schemeClr val="dk2"/>
              </a:solidFill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●"/>
            </a:pPr>
            <a:r>
              <a:rPr lang="en" sz="2000">
                <a:solidFill>
                  <a:schemeClr val="dk2"/>
                </a:solidFill>
              </a:rPr>
              <a:t>JSONPlaceholder                       →  Mock REST API (demo)                                                                                                                   </a:t>
            </a:r>
            <a:endParaRPr sz="2000">
              <a:solidFill>
                <a:schemeClr val="dk2"/>
              </a:solidFill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●"/>
            </a:pPr>
            <a:r>
              <a:rPr lang="en" sz="2000">
                <a:solidFill>
                  <a:schemeClr val="dk2"/>
                </a:solidFill>
              </a:rPr>
              <a:t>XcodeGen                                    →  Generisanje projekta iz YAML</a:t>
            </a:r>
            <a:endParaRPr sz="20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8" title="Video Processing Ecosystem-2026-02-17-11125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890050"/>
            <a:ext cx="8839204" cy="768251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8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Arhitektura projekta</a:t>
            </a:r>
            <a:endParaRPr sz="44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9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/>
              <a:t>BooksViewModel.swift</a:t>
            </a:r>
            <a:endParaRPr sz="2600"/>
          </a:p>
        </p:txBody>
      </p:sp>
      <p:sp>
        <p:nvSpPr>
          <p:cNvPr id="104" name="Google Shape;104;p19"/>
          <p:cNvSpPr txBox="1"/>
          <p:nvPr/>
        </p:nvSpPr>
        <p:spPr>
          <a:xfrm>
            <a:off x="225425" y="720725"/>
            <a:ext cx="4346700" cy="4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7D7D7D"/>
                </a:solidFill>
                <a:latin typeface="Roboto"/>
                <a:ea typeface="Roboto"/>
                <a:cs typeface="Roboto"/>
                <a:sym typeface="Roboto"/>
              </a:rPr>
              <a:t>@Observable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final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class BooksViewModel 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{ 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private(set)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var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books: [</a:t>
            </a:r>
            <a:r>
              <a:rPr lang="en" sz="10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Book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] = []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var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errorMessage: </a:t>
            </a:r>
            <a:r>
              <a:rPr lang="en" sz="10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String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?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var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showSyncLog: </a:t>
            </a:r>
            <a:r>
              <a:rPr lang="en" sz="10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Bool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false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let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networkMonitor: </a:t>
            </a:r>
            <a:r>
              <a:rPr lang="en" sz="10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NetworkMonitor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let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syncService: </a:t>
            </a:r>
            <a:r>
              <a:rPr lang="en" sz="10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SyncService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func</a:t>
            </a:r>
            <a:r>
              <a:rPr lang="en" sz="105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 addBook(title: </a:t>
            </a:r>
            <a:r>
              <a:rPr lang="en" sz="10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String</a:t>
            </a:r>
            <a:r>
              <a:rPr lang="en" sz="105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, author: </a:t>
            </a:r>
            <a:r>
              <a:rPr lang="en" sz="10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String</a:t>
            </a:r>
            <a:r>
              <a:rPr lang="en" sz="105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, rating: </a:t>
            </a:r>
            <a:r>
              <a:rPr lang="en" sz="10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Int</a:t>
            </a:r>
            <a:r>
              <a:rPr lang="en" sz="105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,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</a:t>
            </a:r>
            <a:r>
              <a:rPr lang="en" sz="105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                 notes: </a:t>
            </a:r>
            <a:r>
              <a:rPr lang="en" sz="10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String</a:t>
            </a:r>
            <a:r>
              <a:rPr lang="en" sz="105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, isRead: </a:t>
            </a:r>
            <a:r>
              <a:rPr lang="en" sz="10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Bool</a:t>
            </a:r>
            <a:r>
              <a:rPr lang="en" sz="105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{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let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context = persistence.viewContext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let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entity  = </a:t>
            </a:r>
            <a:r>
              <a:rPr lang="en" sz="10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BookEntity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(context: context)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let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book    = </a:t>
            </a:r>
            <a:r>
              <a:rPr lang="en" sz="10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Book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.new(title: title, author: author,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                   rating: rating, notes: notes, isRead: isRead)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entity.update(from: book)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persistence.save(context: context)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fetchBooks()         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triggerSyncIfOnline()   </a:t>
            </a:r>
            <a:r>
              <a:rPr lang="en" sz="105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}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func</a:t>
            </a:r>
            <a:r>
              <a:rPr lang="en" sz="105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 updateBook(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_</a:t>
            </a:r>
            <a:r>
              <a:rPr lang="en" sz="105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 book: </a:t>
            </a:r>
            <a:r>
              <a:rPr lang="en" sz="10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Book</a:t>
            </a:r>
            <a:r>
              <a:rPr lang="en" sz="105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, ...)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{ ... }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func</a:t>
            </a:r>
            <a:r>
              <a:rPr lang="en" sz="105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 deleteBook(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_</a:t>
            </a:r>
            <a:r>
              <a:rPr lang="en" sz="105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 book: </a:t>
            </a:r>
            <a:r>
              <a:rPr lang="en" sz="10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Book</a:t>
            </a:r>
            <a:r>
              <a:rPr lang="en" sz="105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{ ... }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}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" name="Google Shape;105;p19"/>
          <p:cNvSpPr txBox="1"/>
          <p:nvPr/>
        </p:nvSpPr>
        <p:spPr>
          <a:xfrm>
            <a:off x="4575175" y="619050"/>
            <a:ext cx="4461000" cy="44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private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func</a:t>
            </a:r>
            <a:r>
              <a:rPr lang="en" sz="105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 observeNetworkChanges()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{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var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previouslyOnline = networkMonitor.effectivelyOnline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syncObservationTask = </a:t>
            </a:r>
            <a:r>
              <a:rPr lang="en" sz="10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Task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{ </a:t>
            </a:r>
            <a:r>
              <a:rPr lang="en" sz="1050">
                <a:solidFill>
                  <a:srgbClr val="7D7D7D"/>
                </a:solidFill>
                <a:latin typeface="Roboto"/>
                <a:ea typeface="Roboto"/>
                <a:cs typeface="Roboto"/>
                <a:sym typeface="Roboto"/>
              </a:rPr>
              <a:t>@MainActor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[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weak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self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]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in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while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!</a:t>
            </a:r>
            <a:r>
              <a:rPr lang="en" sz="10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Task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.isCancelled {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guard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let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self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else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{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return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}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await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withCheckedContinuation { continuation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in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    withObservationTracking {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       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_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self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.networkMonitor.effectivelyOnline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    } onChange: {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        continuation.resume()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    }            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}                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let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isOnline =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self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.networkMonitor.effectivelyOnline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if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isOnline &amp;&amp; !previouslyOnline {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   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await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self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.syncService.syncPendingBooks()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   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self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.fetchBooks()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}                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previouslyOnline = isOnline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}                    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}                        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}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/>
              <a:t>Core Data – model podataka</a:t>
            </a:r>
            <a:endParaRPr sz="2600"/>
          </a:p>
        </p:txBody>
      </p:sp>
      <p:sp>
        <p:nvSpPr>
          <p:cNvPr id="111" name="Google Shape;111;p20"/>
          <p:cNvSpPr txBox="1"/>
          <p:nvPr/>
        </p:nvSpPr>
        <p:spPr>
          <a:xfrm>
            <a:off x="320675" y="1117600"/>
            <a:ext cx="8604300" cy="395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</a:t>
            </a: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i</a:t>
            </a: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d : UUID     </a:t>
            </a:r>
            <a:r>
              <a:rPr lang="en" sz="2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→  generiše uređaj, offline kreiranje       </a:t>
            </a: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</a:t>
            </a: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t</a:t>
            </a: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itle</a:t>
            </a: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: String       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author : String       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rating : Int16        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isRead : Boolean      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notes : String?      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syncStatus : String   </a:t>
            </a:r>
            <a:r>
              <a:rPr lang="en" sz="2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→  "pending" / "synced" / "failed"   </a:t>
            </a: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remoteId : Int64    </a:t>
            </a:r>
            <a:r>
              <a:rPr lang="en" sz="2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→  0 = nikad sinhronizovano (sentinel)      </a:t>
            </a: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createdAt : Date         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updatedAt : Date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1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/>
              <a:t>Domain model i separacija slojeva</a:t>
            </a:r>
            <a:endParaRPr sz="2600"/>
          </a:p>
        </p:txBody>
      </p:sp>
      <p:sp>
        <p:nvSpPr>
          <p:cNvPr id="117" name="Google Shape;117;p21"/>
          <p:cNvSpPr txBox="1"/>
          <p:nvPr/>
        </p:nvSpPr>
        <p:spPr>
          <a:xfrm>
            <a:off x="177900" y="704725"/>
            <a:ext cx="3873300" cy="4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Book.swift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struct Book: Identifiable </a:t>
            </a:r>
            <a:r>
              <a:rPr lang="en" sz="1550">
                <a:latin typeface="Roboto"/>
                <a:ea typeface="Roboto"/>
                <a:cs typeface="Roboto"/>
                <a:sym typeface="Roboto"/>
              </a:rPr>
              <a:t>{                                        </a:t>
            </a:r>
            <a:endParaRPr sz="15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5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let</a:t>
            </a:r>
            <a:r>
              <a:rPr lang="en" sz="1550">
                <a:latin typeface="Roboto"/>
                <a:ea typeface="Roboto"/>
                <a:cs typeface="Roboto"/>
                <a:sym typeface="Roboto"/>
              </a:rPr>
              <a:t> id: </a:t>
            </a:r>
            <a:r>
              <a:rPr lang="en" sz="15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UUID</a:t>
            </a:r>
            <a:r>
              <a:rPr lang="en" sz="1550">
                <a:latin typeface="Roboto"/>
                <a:ea typeface="Roboto"/>
                <a:cs typeface="Roboto"/>
                <a:sym typeface="Roboto"/>
              </a:rPr>
              <a:t>                                                              </a:t>
            </a:r>
            <a:endParaRPr sz="15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5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var</a:t>
            </a:r>
            <a:r>
              <a:rPr lang="en" sz="1550">
                <a:latin typeface="Roboto"/>
                <a:ea typeface="Roboto"/>
                <a:cs typeface="Roboto"/>
                <a:sym typeface="Roboto"/>
              </a:rPr>
              <a:t> title: </a:t>
            </a:r>
            <a:r>
              <a:rPr lang="en" sz="15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String</a:t>
            </a:r>
            <a:r>
              <a:rPr lang="en" sz="1550">
                <a:latin typeface="Roboto"/>
                <a:ea typeface="Roboto"/>
                <a:cs typeface="Roboto"/>
                <a:sym typeface="Roboto"/>
              </a:rPr>
              <a:t>                                                         </a:t>
            </a:r>
            <a:endParaRPr sz="15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5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var</a:t>
            </a:r>
            <a:r>
              <a:rPr lang="en" sz="1550">
                <a:latin typeface="Roboto"/>
                <a:ea typeface="Roboto"/>
                <a:cs typeface="Roboto"/>
                <a:sym typeface="Roboto"/>
              </a:rPr>
              <a:t> author: </a:t>
            </a:r>
            <a:r>
              <a:rPr lang="en" sz="15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String</a:t>
            </a:r>
            <a:r>
              <a:rPr lang="en" sz="1550">
                <a:latin typeface="Roboto"/>
                <a:ea typeface="Roboto"/>
                <a:cs typeface="Roboto"/>
                <a:sym typeface="Roboto"/>
              </a:rPr>
              <a:t>                                                        </a:t>
            </a:r>
            <a:endParaRPr sz="15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5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var</a:t>
            </a:r>
            <a:r>
              <a:rPr lang="en" sz="1550">
                <a:latin typeface="Roboto"/>
                <a:ea typeface="Roboto"/>
                <a:cs typeface="Roboto"/>
                <a:sym typeface="Roboto"/>
              </a:rPr>
              <a:t> rating: </a:t>
            </a:r>
            <a:r>
              <a:rPr lang="en" sz="15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Int</a:t>
            </a:r>
            <a:r>
              <a:rPr lang="en" sz="1550">
                <a:latin typeface="Roboto"/>
                <a:ea typeface="Roboto"/>
                <a:cs typeface="Roboto"/>
                <a:sym typeface="Roboto"/>
              </a:rPr>
              <a:t>                                         </a:t>
            </a:r>
            <a:endParaRPr sz="15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5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var</a:t>
            </a:r>
            <a:r>
              <a:rPr lang="en" sz="1550">
                <a:latin typeface="Roboto"/>
                <a:ea typeface="Roboto"/>
                <a:cs typeface="Roboto"/>
                <a:sym typeface="Roboto"/>
              </a:rPr>
              <a:t> notes: </a:t>
            </a:r>
            <a:r>
              <a:rPr lang="en" sz="15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String</a:t>
            </a:r>
            <a:r>
              <a:rPr lang="en" sz="1550">
                <a:latin typeface="Roboto"/>
                <a:ea typeface="Roboto"/>
                <a:cs typeface="Roboto"/>
                <a:sym typeface="Roboto"/>
              </a:rPr>
              <a:t>                                                         </a:t>
            </a:r>
            <a:endParaRPr sz="15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5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var</a:t>
            </a:r>
            <a:r>
              <a:rPr lang="en" sz="1550">
                <a:latin typeface="Roboto"/>
                <a:ea typeface="Roboto"/>
                <a:cs typeface="Roboto"/>
                <a:sym typeface="Roboto"/>
              </a:rPr>
              <a:t> isRead: </a:t>
            </a:r>
            <a:r>
              <a:rPr lang="en" sz="15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Bool</a:t>
            </a:r>
            <a:r>
              <a:rPr lang="en" sz="1550">
                <a:latin typeface="Roboto"/>
                <a:ea typeface="Roboto"/>
                <a:cs typeface="Roboto"/>
                <a:sym typeface="Roboto"/>
              </a:rPr>
              <a:t>                                                          </a:t>
            </a:r>
            <a:endParaRPr sz="15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5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var</a:t>
            </a:r>
            <a:r>
              <a:rPr lang="en" sz="1550">
                <a:latin typeface="Roboto"/>
                <a:ea typeface="Roboto"/>
                <a:cs typeface="Roboto"/>
                <a:sym typeface="Roboto"/>
              </a:rPr>
              <a:t> syncStatus: </a:t>
            </a:r>
            <a:r>
              <a:rPr lang="en" sz="15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SyncStatus</a:t>
            </a:r>
            <a:r>
              <a:rPr lang="en" sz="1550">
                <a:latin typeface="Roboto"/>
                <a:ea typeface="Roboto"/>
                <a:cs typeface="Roboto"/>
                <a:sym typeface="Roboto"/>
              </a:rPr>
              <a:t>                                                </a:t>
            </a:r>
            <a:endParaRPr sz="15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5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var</a:t>
            </a:r>
            <a:r>
              <a:rPr lang="en" sz="1550">
                <a:latin typeface="Roboto"/>
                <a:ea typeface="Roboto"/>
                <a:cs typeface="Roboto"/>
                <a:sym typeface="Roboto"/>
              </a:rPr>
              <a:t> remoteId: </a:t>
            </a:r>
            <a:r>
              <a:rPr lang="en" sz="15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Int64</a:t>
            </a:r>
            <a:r>
              <a:rPr lang="en" sz="1550">
                <a:latin typeface="Roboto"/>
                <a:ea typeface="Roboto"/>
                <a:cs typeface="Roboto"/>
                <a:sym typeface="Roboto"/>
              </a:rPr>
              <a:t>              </a:t>
            </a:r>
            <a:endParaRPr sz="15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5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var</a:t>
            </a:r>
            <a:r>
              <a:rPr lang="en" sz="1550">
                <a:latin typeface="Roboto"/>
                <a:ea typeface="Roboto"/>
                <a:cs typeface="Roboto"/>
                <a:sym typeface="Roboto"/>
              </a:rPr>
              <a:t> createdAt: </a:t>
            </a:r>
            <a:r>
              <a:rPr lang="en" sz="15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Date</a:t>
            </a:r>
            <a:r>
              <a:rPr lang="en" sz="1550">
                <a:latin typeface="Roboto"/>
                <a:ea typeface="Roboto"/>
                <a:cs typeface="Roboto"/>
                <a:sym typeface="Roboto"/>
              </a:rPr>
              <a:t>                                                       </a:t>
            </a:r>
            <a:endParaRPr sz="15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5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var</a:t>
            </a:r>
            <a:r>
              <a:rPr lang="en" sz="1550">
                <a:latin typeface="Roboto"/>
                <a:ea typeface="Roboto"/>
                <a:cs typeface="Roboto"/>
                <a:sym typeface="Roboto"/>
              </a:rPr>
              <a:t> updatedAt: </a:t>
            </a:r>
            <a:r>
              <a:rPr lang="en" sz="15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Date</a:t>
            </a:r>
            <a:r>
              <a:rPr lang="en" sz="1550">
                <a:latin typeface="Roboto"/>
                <a:ea typeface="Roboto"/>
                <a:cs typeface="Roboto"/>
                <a:sym typeface="Roboto"/>
              </a:rPr>
              <a:t>                                                       </a:t>
            </a:r>
            <a:endParaRPr sz="15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50">
                <a:latin typeface="Roboto"/>
                <a:ea typeface="Roboto"/>
                <a:cs typeface="Roboto"/>
                <a:sym typeface="Roboto"/>
              </a:rPr>
              <a:t>  } </a:t>
            </a:r>
            <a:endParaRPr sz="15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" name="Google Shape;118;p21"/>
          <p:cNvSpPr txBox="1"/>
          <p:nvPr/>
        </p:nvSpPr>
        <p:spPr>
          <a:xfrm>
            <a:off x="4051300" y="704850"/>
            <a:ext cx="4968900" cy="4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BookEntity+Extensions.swift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extension BookEntity 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{                                                                                                                              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20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func</a:t>
            </a:r>
            <a:r>
              <a:rPr lang="en" sz="120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 toDomainModel()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-&gt; </a:t>
            </a:r>
            <a:r>
              <a:rPr lang="en" sz="120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Book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{                                            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          </a:t>
            </a:r>
            <a:r>
              <a:rPr lang="en" sz="120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Book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(                                                                 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              id:         id ?? </a:t>
            </a:r>
            <a:r>
              <a:rPr lang="en" sz="120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UUID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(),                                         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              title:      title ?? </a:t>
            </a:r>
            <a:r>
              <a:rPr lang="en" sz="1200">
                <a:solidFill>
                  <a:srgbClr val="CA3323"/>
                </a:solidFill>
                <a:latin typeface="Roboto"/>
                <a:ea typeface="Roboto"/>
                <a:cs typeface="Roboto"/>
                <a:sym typeface="Roboto"/>
              </a:rPr>
              <a:t>""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                                         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45720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  syncStatus: </a:t>
            </a:r>
            <a:r>
              <a:rPr lang="en" sz="120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SyncStatus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(rawValue: syncStatus ?? </a:t>
            </a:r>
            <a:r>
              <a:rPr lang="en" sz="1200">
                <a:solidFill>
                  <a:srgbClr val="CA3323"/>
                </a:solidFill>
                <a:latin typeface="Roboto"/>
                <a:ea typeface="Roboto"/>
                <a:cs typeface="Roboto"/>
                <a:sym typeface="Roboto"/>
              </a:rPr>
              <a:t>"pending"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)                       ??  .pending,                                                                     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              remoteId:   remoteId,                       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              ...                                                               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          )                                                                     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      }                                                                                                                                            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20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func</a:t>
            </a:r>
            <a:r>
              <a:rPr lang="en" sz="120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 update(from book: </a:t>
            </a:r>
            <a:r>
              <a:rPr lang="en" sz="120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Book</a:t>
            </a:r>
            <a:r>
              <a:rPr lang="en" sz="120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{                                            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          </a:t>
            </a:r>
            <a:r>
              <a:rPr lang="en" sz="120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self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.title      = book.title                                          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          </a:t>
            </a:r>
            <a:r>
              <a:rPr lang="en" sz="120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self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.syncStatus = book.syncStatus.rawValue                            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          </a:t>
            </a:r>
            <a:r>
              <a:rPr lang="en" sz="120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self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.remoteId   = book.remoteId   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          ...                                                                   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      }                                                                         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  }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2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/>
              <a:t>Dva Core Data konteksta</a:t>
            </a:r>
            <a:endParaRPr sz="2600"/>
          </a:p>
        </p:txBody>
      </p:sp>
      <p:sp>
        <p:nvSpPr>
          <p:cNvPr id="124" name="Google Shape;124;p22"/>
          <p:cNvSpPr txBox="1"/>
          <p:nvPr>
            <p:ph idx="4294967295" type="body"/>
          </p:nvPr>
        </p:nvSpPr>
        <p:spPr>
          <a:xfrm>
            <a:off x="471900" y="688975"/>
            <a:ext cx="8222100" cy="433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lang="en" sz="2000">
                <a:solidFill>
                  <a:schemeClr val="dk2"/>
                </a:solidFill>
              </a:rPr>
              <a:t>viewContext (main thread)                                                     </a:t>
            </a:r>
            <a:endParaRPr sz="20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n" sz="2000">
                <a:solidFill>
                  <a:schemeClr val="dk2"/>
                </a:solidFill>
              </a:rPr>
              <a:t>  • Koristi SwiftUI za čitanje i prikaz podataka                                </a:t>
            </a:r>
            <a:endParaRPr sz="20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n" sz="2000">
                <a:solidFill>
                  <a:schemeClr val="dk2"/>
                </a:solidFill>
              </a:rPr>
              <a:t>  • Nikad se ne blokira        </a:t>
            </a:r>
            <a:endParaRPr sz="20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n" sz="2000">
                <a:solidFill>
                  <a:schemeClr val="dk2"/>
                </a:solidFill>
              </a:rPr>
              <a:t>                                                                                                </a:t>
            </a:r>
            <a:endParaRPr sz="20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n" sz="2000">
                <a:solidFill>
                  <a:schemeClr val="dk2"/>
                </a:solidFill>
              </a:rPr>
              <a:t>  backgroundContext (pozadinski thread)                                         </a:t>
            </a:r>
            <a:endParaRPr sz="20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n" sz="2000">
                <a:solidFill>
                  <a:schemeClr val="dk2"/>
                </a:solidFill>
              </a:rPr>
              <a:t>  • Koristi SyncService za pisanje                                              </a:t>
            </a:r>
            <a:endParaRPr sz="20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n" sz="2000">
                <a:solidFill>
                  <a:schemeClr val="dk2"/>
                </a:solidFill>
              </a:rPr>
              <a:t>  • automaticallyMergesChangesFromParent = true  → pozadinski upisi automatski propagiraju na UI                             </a:t>
            </a:r>
            <a:endParaRPr sz="20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n" sz="2000">
                <a:solidFill>
                  <a:schemeClr val="dk2"/>
                </a:solidFill>
              </a:rPr>
              <a:t>                                                                                </a:t>
            </a:r>
            <a:endParaRPr sz="20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852"/>
              <a:buNone/>
            </a:pPr>
            <a:r>
              <a:rPr lang="en" sz="2000">
                <a:solidFill>
                  <a:schemeClr val="dk2"/>
                </a:solidFill>
              </a:rPr>
              <a:t>  Rezultat: UI nikad nije blokiran tokom sync-a    </a:t>
            </a:r>
            <a:endParaRPr sz="20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3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/>
              <a:t>SyncStatus - prelazak iz jednog u drugo stanje</a:t>
            </a:r>
            <a:endParaRPr sz="2600"/>
          </a:p>
        </p:txBody>
      </p:sp>
      <p:pic>
        <p:nvPicPr>
          <p:cNvPr id="130" name="Google Shape;130;p23" title="Video Processing Ecosystem-2026-02-17-11520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50888" y="755575"/>
            <a:ext cx="4921324" cy="4219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4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/>
              <a:t>Sinhronizacija</a:t>
            </a:r>
            <a:endParaRPr sz="2600"/>
          </a:p>
        </p:txBody>
      </p:sp>
      <p:sp>
        <p:nvSpPr>
          <p:cNvPr id="136" name="Google Shape;136;p24"/>
          <p:cNvSpPr txBox="1"/>
          <p:nvPr/>
        </p:nvSpPr>
        <p:spPr>
          <a:xfrm>
            <a:off x="182550" y="784225"/>
            <a:ext cx="8778900" cy="412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Okidači:                   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• Kreiranje knjige (ako je online)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• Prelaz offline → online (automatski)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• Pull-to-refresh (ručno)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Logika po knjizi:          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remoteId == 0  →  POST  (nova knjiga)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remoteId  &gt; 0  →  PUT   (izmena postojeće)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Zaštita od duplikata:      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guard !isSyncing else { return }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5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/>
              <a:t>SyncService.swift</a:t>
            </a:r>
            <a:endParaRPr sz="2600"/>
          </a:p>
        </p:txBody>
      </p:sp>
      <p:sp>
        <p:nvSpPr>
          <p:cNvPr id="142" name="Google Shape;142;p25"/>
          <p:cNvSpPr txBox="1"/>
          <p:nvPr/>
        </p:nvSpPr>
        <p:spPr>
          <a:xfrm>
            <a:off x="98250" y="688975"/>
            <a:ext cx="4473600" cy="431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func</a:t>
            </a:r>
            <a:r>
              <a:rPr lang="en" sz="125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 syncPendingBooks()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2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async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 {                                               </a:t>
            </a:r>
            <a:endParaRPr sz="12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2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let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 alreadySyncing = </a:t>
            </a:r>
            <a:r>
              <a:rPr lang="en" sz="12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await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2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MainActor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.run { isSyncing }                    </a:t>
            </a:r>
            <a:endParaRPr sz="12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2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guard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 !alreadySyncing </a:t>
            </a:r>
            <a:r>
              <a:rPr lang="en" sz="12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else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 { </a:t>
            </a:r>
            <a:r>
              <a:rPr lang="en" sz="12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return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 }                                     </a:t>
            </a:r>
            <a:endParaRPr sz="12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2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await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2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MainActor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.run { isSyncing = </a:t>
            </a:r>
            <a:r>
              <a:rPr lang="en" sz="12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true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 }                                  </a:t>
            </a:r>
            <a:endParaRPr sz="12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2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defer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 {                                                                   </a:t>
            </a:r>
            <a:endParaRPr sz="12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Roboto"/>
                <a:ea typeface="Roboto"/>
                <a:cs typeface="Roboto"/>
                <a:sym typeface="Roboto"/>
              </a:rPr>
              <a:t>          </a:t>
            </a:r>
            <a:r>
              <a:rPr lang="en" sz="12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Task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 { </a:t>
            </a:r>
            <a:r>
              <a:rPr lang="en" sz="1250">
                <a:solidFill>
                  <a:srgbClr val="7D7D7D"/>
                </a:solidFill>
                <a:latin typeface="Roboto"/>
                <a:ea typeface="Roboto"/>
                <a:cs typeface="Roboto"/>
                <a:sym typeface="Roboto"/>
              </a:rPr>
              <a:t>@MainActor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 [</a:t>
            </a:r>
            <a:r>
              <a:rPr lang="en" sz="12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weak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2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self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] </a:t>
            </a:r>
            <a:r>
              <a:rPr lang="en" sz="12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in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                                      </a:t>
            </a:r>
            <a:endParaRPr sz="12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Roboto"/>
                <a:ea typeface="Roboto"/>
                <a:cs typeface="Roboto"/>
                <a:sym typeface="Roboto"/>
              </a:rPr>
              <a:t>              </a:t>
            </a:r>
            <a:r>
              <a:rPr lang="en" sz="12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self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?.isSyncing = </a:t>
            </a:r>
            <a:r>
              <a:rPr lang="en" sz="12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false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                                           </a:t>
            </a:r>
            <a:endParaRPr sz="12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Roboto"/>
                <a:ea typeface="Roboto"/>
                <a:cs typeface="Roboto"/>
                <a:sym typeface="Roboto"/>
              </a:rPr>
              <a:t>          }                                                                     </a:t>
            </a:r>
            <a:endParaRPr sz="12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Roboto"/>
                <a:ea typeface="Roboto"/>
                <a:cs typeface="Roboto"/>
                <a:sym typeface="Roboto"/>
              </a:rPr>
              <a:t>      }                                                                         </a:t>
            </a:r>
            <a:endParaRPr sz="12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             </a:t>
            </a:r>
            <a:endParaRPr sz="12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2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let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 context = persistence.backgroundContext                               </a:t>
            </a:r>
            <a:endParaRPr sz="12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2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let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 pending = </a:t>
            </a:r>
            <a:r>
              <a:rPr lang="en" sz="12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await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 fetchPendingEntities(context: context)                </a:t>
            </a:r>
            <a:endParaRPr sz="12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             </a:t>
            </a:r>
            <a:endParaRPr sz="12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2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if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 pending.isEmpty { </a:t>
            </a:r>
            <a:r>
              <a:rPr lang="en" sz="12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return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 }                                             </a:t>
            </a:r>
            <a:endParaRPr sz="12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             </a:t>
            </a:r>
            <a:endParaRPr sz="12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2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for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 entity </a:t>
            </a:r>
            <a:r>
              <a:rPr lang="en" sz="12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in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 pending {                                                   </a:t>
            </a:r>
            <a:endParaRPr sz="12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Roboto"/>
                <a:ea typeface="Roboto"/>
                <a:cs typeface="Roboto"/>
                <a:sym typeface="Roboto"/>
              </a:rPr>
              <a:t>          </a:t>
            </a:r>
            <a:r>
              <a:rPr lang="en" sz="12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await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 syncSingleBook(entity, context: context)                        </a:t>
            </a:r>
            <a:endParaRPr sz="12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Roboto"/>
                <a:ea typeface="Roboto"/>
                <a:cs typeface="Roboto"/>
                <a:sym typeface="Roboto"/>
              </a:rPr>
              <a:t>      }                                                                         </a:t>
            </a:r>
            <a:endParaRPr sz="12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Roboto"/>
                <a:ea typeface="Roboto"/>
                <a:cs typeface="Roboto"/>
                <a:sym typeface="Roboto"/>
              </a:rPr>
              <a:t>  }</a:t>
            </a:r>
            <a:endParaRPr sz="12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" name="Google Shape;143;p25"/>
          <p:cNvSpPr txBox="1"/>
          <p:nvPr/>
        </p:nvSpPr>
        <p:spPr>
          <a:xfrm>
            <a:off x="4657800" y="800100"/>
            <a:ext cx="4378200" cy="420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if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currentRemoteId == </a:t>
            </a:r>
            <a:r>
              <a:rPr lang="en" sz="1050">
                <a:solidFill>
                  <a:srgbClr val="39C026"/>
                </a:solidFill>
                <a:latin typeface="Roboto"/>
                <a:ea typeface="Roboto"/>
                <a:cs typeface="Roboto"/>
                <a:sym typeface="Roboto"/>
              </a:rPr>
              <a:t>0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{    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</a:t>
            </a:r>
            <a:r>
              <a:rPr lang="en" sz="105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 // New book — CREATE on server    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let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remote =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try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await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api.createPost(title: title, body: ...)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await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context.perform {  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entity.remoteId   = </a:t>
            </a:r>
            <a:r>
              <a:rPr lang="en" sz="10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Int64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(remote.id)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entity.syncStatus = </a:t>
            </a:r>
            <a:r>
              <a:rPr lang="en" sz="10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SyncStatus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.synced.rawValue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self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.persistence.save(context: context)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}                        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}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else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{                     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05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// Existing book — UPDATE on server   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let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remote =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try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await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api.updatePost(id: </a:t>
            </a:r>
            <a:r>
              <a:rPr lang="en" sz="10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Int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(currentRemoteId), ...)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await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context.perform {  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entity.syncStatus = </a:t>
            </a:r>
            <a:r>
              <a:rPr lang="en" sz="10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SyncStatus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.synced.rawValue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self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.persistence.save(context: context)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}                        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}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catch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{                    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await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context.perform {  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entity.syncStatus = </a:t>
            </a:r>
            <a:r>
              <a:rPr lang="en" sz="10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SyncStatus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.failed.rawValue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}                        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}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6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/>
              <a:t>NetworkMonitor.swift</a:t>
            </a:r>
            <a:endParaRPr sz="2600"/>
          </a:p>
        </p:txBody>
      </p:sp>
      <p:sp>
        <p:nvSpPr>
          <p:cNvPr id="149" name="Google Shape;149;p26"/>
          <p:cNvSpPr txBox="1"/>
          <p:nvPr/>
        </p:nvSpPr>
        <p:spPr>
          <a:xfrm>
            <a:off x="98425" y="800100"/>
            <a:ext cx="3968700" cy="419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solidFill>
                  <a:srgbClr val="7D7D7D"/>
                </a:solidFill>
                <a:latin typeface="Roboto"/>
                <a:ea typeface="Roboto"/>
                <a:cs typeface="Roboto"/>
                <a:sym typeface="Roboto"/>
              </a:rPr>
              <a:t>@Observable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final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class NetworkMonitor 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{                               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private(set)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var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isConnected: </a:t>
            </a:r>
            <a:r>
              <a:rPr lang="en" sz="13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Bool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true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        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private(set)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var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connectionType: </a:t>
            </a:r>
            <a:r>
              <a:rPr lang="en" sz="13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String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sz="1350">
                <a:solidFill>
                  <a:srgbClr val="CA3323"/>
                </a:solidFill>
                <a:latin typeface="Roboto"/>
                <a:ea typeface="Roboto"/>
                <a:cs typeface="Roboto"/>
                <a:sym typeface="Roboto"/>
              </a:rPr>
              <a:t>"Unknown"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var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simulateOffline: </a:t>
            </a:r>
            <a:r>
              <a:rPr lang="en" sz="13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Bool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false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                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var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effectivelyOnline: </a:t>
            </a:r>
            <a:r>
              <a:rPr lang="en" sz="13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Bool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{                          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    isConnected &amp;&amp; !simulateOffline                    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}                                                      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private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let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monitor = </a:t>
            </a:r>
            <a:r>
              <a:rPr lang="en" sz="13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NWPathMonitor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()                  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private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let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queue = </a:t>
            </a:r>
            <a:r>
              <a:rPr lang="en" sz="13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DispatchQueue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(label:               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</a:t>
            </a:r>
            <a:r>
              <a:rPr lang="en" sz="1350">
                <a:solidFill>
                  <a:srgbClr val="CA3323"/>
                </a:solidFill>
                <a:latin typeface="Roboto"/>
                <a:ea typeface="Roboto"/>
                <a:cs typeface="Roboto"/>
                <a:sym typeface="Roboto"/>
              </a:rPr>
              <a:t>"com.elfak.bookshelf.NetworkMonitor"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,                      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                                  qos: .utility)        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  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26"/>
          <p:cNvSpPr txBox="1"/>
          <p:nvPr/>
        </p:nvSpPr>
        <p:spPr>
          <a:xfrm>
            <a:off x="4194175" y="847725"/>
            <a:ext cx="4730700" cy="415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2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init</a:t>
            </a:r>
            <a:r>
              <a:rPr lang="en" sz="125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()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 {                                                                  </a:t>
            </a:r>
            <a:endParaRPr sz="12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Roboto"/>
                <a:ea typeface="Roboto"/>
                <a:cs typeface="Roboto"/>
                <a:sym typeface="Roboto"/>
              </a:rPr>
              <a:t>          monitor.pathUpdateHandler = { [</a:t>
            </a:r>
            <a:r>
              <a:rPr lang="en" sz="12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weak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2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self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] path </a:t>
            </a:r>
            <a:r>
              <a:rPr lang="en" sz="12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in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                     </a:t>
            </a:r>
            <a:endParaRPr sz="12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Roboto"/>
                <a:ea typeface="Roboto"/>
                <a:cs typeface="Roboto"/>
                <a:sym typeface="Roboto"/>
              </a:rPr>
              <a:t>              </a:t>
            </a:r>
            <a:r>
              <a:rPr lang="en" sz="12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DispatchQueue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.main.async {                                        </a:t>
            </a:r>
            <a:endParaRPr sz="12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Roboto"/>
                <a:ea typeface="Roboto"/>
                <a:cs typeface="Roboto"/>
                <a:sym typeface="Roboto"/>
              </a:rPr>
              <a:t>                  </a:t>
            </a:r>
            <a:r>
              <a:rPr lang="en" sz="12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self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?.isConnected = path.status == .satisfied                 </a:t>
            </a:r>
            <a:endParaRPr sz="12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Roboto"/>
                <a:ea typeface="Roboto"/>
                <a:cs typeface="Roboto"/>
                <a:sym typeface="Roboto"/>
              </a:rPr>
              <a:t>                  </a:t>
            </a:r>
            <a:r>
              <a:rPr lang="en" sz="12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self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?.connectionType = {                                      </a:t>
            </a:r>
            <a:endParaRPr sz="12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Roboto"/>
                <a:ea typeface="Roboto"/>
                <a:cs typeface="Roboto"/>
                <a:sym typeface="Roboto"/>
              </a:rPr>
              <a:t>                      </a:t>
            </a:r>
            <a:r>
              <a:rPr lang="en" sz="12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if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 path.usesInterfaceType(.wifi)         { </a:t>
            </a:r>
            <a:r>
              <a:rPr lang="en" sz="12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return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250">
                <a:solidFill>
                  <a:srgbClr val="CA3323"/>
                </a:solidFill>
                <a:latin typeface="Roboto"/>
                <a:ea typeface="Roboto"/>
                <a:cs typeface="Roboto"/>
                <a:sym typeface="Roboto"/>
              </a:rPr>
              <a:t>"WiFi"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 }</a:t>
            </a:r>
            <a:endParaRPr sz="12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Roboto"/>
                <a:ea typeface="Roboto"/>
                <a:cs typeface="Roboto"/>
                <a:sym typeface="Roboto"/>
              </a:rPr>
              <a:t>                      </a:t>
            </a:r>
            <a:r>
              <a:rPr lang="en" sz="12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if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 path.usesInterfaceType(.cellular)     { </a:t>
            </a:r>
            <a:r>
              <a:rPr lang="en" sz="12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return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         </a:t>
            </a:r>
            <a:endParaRPr sz="12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Roboto"/>
                <a:ea typeface="Roboto"/>
                <a:cs typeface="Roboto"/>
                <a:sym typeface="Roboto"/>
              </a:rPr>
              <a:t>  </a:t>
            </a:r>
            <a:r>
              <a:rPr lang="en" sz="1250">
                <a:solidFill>
                  <a:srgbClr val="CA3323"/>
                </a:solidFill>
                <a:latin typeface="Roboto"/>
                <a:ea typeface="Roboto"/>
                <a:cs typeface="Roboto"/>
                <a:sym typeface="Roboto"/>
              </a:rPr>
              <a:t>"Cellular"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 }                                                                  </a:t>
            </a:r>
            <a:endParaRPr sz="12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Roboto"/>
                <a:ea typeface="Roboto"/>
                <a:cs typeface="Roboto"/>
                <a:sym typeface="Roboto"/>
              </a:rPr>
              <a:t>                      </a:t>
            </a:r>
            <a:r>
              <a:rPr lang="en" sz="12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if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 path.usesInterfaceType(.wiredEthernet){ </a:t>
            </a:r>
            <a:r>
              <a:rPr lang="en" sz="12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return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         </a:t>
            </a:r>
            <a:endParaRPr sz="12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Roboto"/>
                <a:ea typeface="Roboto"/>
                <a:cs typeface="Roboto"/>
                <a:sym typeface="Roboto"/>
              </a:rPr>
              <a:t>  </a:t>
            </a:r>
            <a:r>
              <a:rPr lang="en" sz="1250">
                <a:solidFill>
                  <a:srgbClr val="CA3323"/>
                </a:solidFill>
                <a:latin typeface="Roboto"/>
                <a:ea typeface="Roboto"/>
                <a:cs typeface="Roboto"/>
                <a:sym typeface="Roboto"/>
              </a:rPr>
              <a:t>"Ethernet"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 }                                                                  </a:t>
            </a:r>
            <a:endParaRPr sz="12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Roboto"/>
                <a:ea typeface="Roboto"/>
                <a:cs typeface="Roboto"/>
                <a:sym typeface="Roboto"/>
              </a:rPr>
              <a:t>                      </a:t>
            </a:r>
            <a:r>
              <a:rPr lang="en" sz="12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return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250">
                <a:solidFill>
                  <a:srgbClr val="CA3323"/>
                </a:solidFill>
                <a:latin typeface="Roboto"/>
                <a:ea typeface="Roboto"/>
                <a:cs typeface="Roboto"/>
                <a:sym typeface="Roboto"/>
              </a:rPr>
              <a:t>"Other"</a:t>
            </a:r>
            <a:r>
              <a:rPr lang="en" sz="1250">
                <a:latin typeface="Roboto"/>
                <a:ea typeface="Roboto"/>
                <a:cs typeface="Roboto"/>
                <a:sym typeface="Roboto"/>
              </a:rPr>
              <a:t>                                            </a:t>
            </a:r>
            <a:endParaRPr sz="12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Roboto"/>
                <a:ea typeface="Roboto"/>
                <a:cs typeface="Roboto"/>
                <a:sym typeface="Roboto"/>
              </a:rPr>
              <a:t>                  }()                                                           </a:t>
            </a:r>
            <a:endParaRPr sz="12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Roboto"/>
                <a:ea typeface="Roboto"/>
                <a:cs typeface="Roboto"/>
                <a:sym typeface="Roboto"/>
              </a:rPr>
              <a:t>              }                                                                 </a:t>
            </a:r>
            <a:endParaRPr sz="12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Roboto"/>
                <a:ea typeface="Roboto"/>
                <a:cs typeface="Roboto"/>
                <a:sym typeface="Roboto"/>
              </a:rPr>
              <a:t>          }                                                                     </a:t>
            </a:r>
            <a:endParaRPr sz="12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Roboto"/>
                <a:ea typeface="Roboto"/>
                <a:cs typeface="Roboto"/>
                <a:sym typeface="Roboto"/>
              </a:rPr>
              <a:t>          monitor.start(queue: queue)                                           </a:t>
            </a:r>
            <a:endParaRPr sz="12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Roboto"/>
                <a:ea typeface="Roboto"/>
                <a:cs typeface="Roboto"/>
                <a:sym typeface="Roboto"/>
              </a:rPr>
              <a:t>      }                                                                         </a:t>
            </a:r>
            <a:endParaRPr sz="12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Roboto"/>
                <a:ea typeface="Roboto"/>
                <a:cs typeface="Roboto"/>
                <a:sym typeface="Roboto"/>
              </a:rPr>
              <a:t>  }</a:t>
            </a:r>
            <a:endParaRPr sz="12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/>
              <a:t>@Observable vs. ObservableObject</a:t>
            </a:r>
            <a:endParaRPr sz="2600"/>
          </a:p>
        </p:txBody>
      </p:sp>
      <p:sp>
        <p:nvSpPr>
          <p:cNvPr id="156" name="Google Shape;156;p27"/>
          <p:cNvSpPr txBox="1"/>
          <p:nvPr/>
        </p:nvSpPr>
        <p:spPr>
          <a:xfrm>
            <a:off x="161925" y="847725"/>
            <a:ext cx="8826600" cy="415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      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</a:t>
            </a:r>
            <a:r>
              <a:rPr lang="en" sz="2000">
                <a:solidFill>
                  <a:srgbClr val="7D7D7D"/>
                </a:solidFill>
              </a:rPr>
              <a:t>@Observable</a:t>
            </a:r>
            <a:r>
              <a:rPr lang="en" sz="1350"/>
              <a:t>   </a:t>
            </a: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</a:t>
            </a:r>
            <a:r>
              <a:rPr lang="en" sz="200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final class BooksViewModel</a:t>
            </a: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{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200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var</a:t>
            </a: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books: [</a:t>
            </a:r>
            <a:r>
              <a:rPr lang="en" sz="200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Book</a:t>
            </a: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] = []   </a:t>
            </a:r>
            <a:r>
              <a:rPr lang="en" sz="2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← nema @Published  </a:t>
            </a: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}                          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• Granularno praćenje - re-render samo za property-je koje view stvarno čita   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• ObservableObject obaveštavaju sve view-ove pri svakoj promeni bilo kog property-ja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/>
              <a:t>ApiService</a:t>
            </a:r>
            <a:endParaRPr sz="2600"/>
          </a:p>
        </p:txBody>
      </p:sp>
      <p:sp>
        <p:nvSpPr>
          <p:cNvPr id="162" name="Google Shape;162;p28"/>
          <p:cNvSpPr txBox="1"/>
          <p:nvPr/>
        </p:nvSpPr>
        <p:spPr>
          <a:xfrm>
            <a:off x="0" y="800100"/>
            <a:ext cx="4924500" cy="412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class </a:t>
            </a:r>
            <a:r>
              <a:rPr lang="en" sz="13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APIService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{                                         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private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let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baseURL = </a:t>
            </a:r>
            <a:r>
              <a:rPr lang="en" sz="1350">
                <a:solidFill>
                  <a:srgbClr val="CA3323"/>
                </a:solidFill>
                <a:latin typeface="Roboto"/>
                <a:ea typeface="Roboto"/>
                <a:cs typeface="Roboto"/>
                <a:sym typeface="Roboto"/>
              </a:rPr>
              <a:t>"https://jsonplaceholder.typicode.com"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private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let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session: </a:t>
            </a:r>
            <a:r>
              <a:rPr lang="en" sz="13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URLSession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                  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func</a:t>
            </a:r>
            <a:r>
              <a:rPr lang="en" sz="135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 createPost(title: </a:t>
            </a:r>
            <a:r>
              <a:rPr lang="en" sz="13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String</a:t>
            </a:r>
            <a:r>
              <a:rPr lang="en" sz="135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, body: </a:t>
            </a:r>
            <a:r>
              <a:rPr lang="en" sz="13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String</a:t>
            </a:r>
            <a:r>
              <a:rPr lang="en" sz="135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,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     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</a:t>
            </a:r>
            <a:r>
              <a:rPr lang="en" sz="135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                    userId: </a:t>
            </a:r>
            <a:r>
              <a:rPr lang="en" sz="13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Int</a:t>
            </a:r>
            <a:r>
              <a:rPr lang="en" sz="135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sz="1350">
                <a:solidFill>
                  <a:srgbClr val="39C026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r>
              <a:rPr lang="en" sz="135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async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throws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-&gt; </a:t>
            </a:r>
            <a:r>
              <a:rPr lang="en" sz="13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RemotePost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{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   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guard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let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url = </a:t>
            </a:r>
            <a:r>
              <a:rPr lang="en" sz="13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URL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(string: </a:t>
            </a:r>
            <a:r>
              <a:rPr lang="en" sz="1350">
                <a:solidFill>
                  <a:srgbClr val="CA3323"/>
                </a:solidFill>
                <a:latin typeface="Roboto"/>
                <a:ea typeface="Roboto"/>
                <a:cs typeface="Roboto"/>
                <a:sym typeface="Roboto"/>
              </a:rPr>
              <a:t>"\(baseURL)/posts"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)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else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{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       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throw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3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APIError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.badURL                          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    }                                                  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   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var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request = </a:t>
            </a:r>
            <a:r>
              <a:rPr lang="en" sz="13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URLRequest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(url: url)                 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    request.httpMethod = </a:t>
            </a:r>
            <a:r>
              <a:rPr lang="en" sz="1350">
                <a:solidFill>
                  <a:srgbClr val="CA3323"/>
                </a:solidFill>
                <a:latin typeface="Roboto"/>
                <a:ea typeface="Roboto"/>
                <a:cs typeface="Roboto"/>
                <a:sym typeface="Roboto"/>
              </a:rPr>
              <a:t>"POST"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                  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    request.setValue(</a:t>
            </a:r>
            <a:r>
              <a:rPr lang="en" sz="1350">
                <a:solidFill>
                  <a:srgbClr val="CA3323"/>
                </a:solidFill>
                <a:latin typeface="Roboto"/>
                <a:ea typeface="Roboto"/>
                <a:cs typeface="Roboto"/>
                <a:sym typeface="Roboto"/>
              </a:rPr>
              <a:t>"application/json; charset=UTF-8"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,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                     forHTTPHeaderField: </a:t>
            </a:r>
            <a:r>
              <a:rPr lang="en" sz="1350">
                <a:solidFill>
                  <a:srgbClr val="CA3323"/>
                </a:solidFill>
                <a:latin typeface="Roboto"/>
                <a:ea typeface="Roboto"/>
                <a:cs typeface="Roboto"/>
                <a:sym typeface="Roboto"/>
              </a:rPr>
              <a:t>"Content-Type"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)       </a:t>
            </a:r>
            <a:r>
              <a:rPr lang="en" sz="1350"/>
              <a:t>           </a:t>
            </a:r>
            <a:endParaRPr sz="135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/>
              <a:t>                                                                                </a:t>
            </a:r>
            <a:endParaRPr sz="135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/>
              <a:t>         </a:t>
            </a:r>
            <a:endParaRPr sz="21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3" name="Google Shape;163;p28"/>
          <p:cNvSpPr txBox="1"/>
          <p:nvPr/>
        </p:nvSpPr>
        <p:spPr>
          <a:xfrm>
            <a:off x="4781550" y="866775"/>
            <a:ext cx="4270500" cy="420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let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payload: [</a:t>
            </a:r>
            <a:r>
              <a:rPr lang="en" sz="13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String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: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Any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] = [</a:t>
            </a:r>
            <a:r>
              <a:rPr lang="en" sz="1350">
                <a:solidFill>
                  <a:srgbClr val="CA3323"/>
                </a:solidFill>
                <a:latin typeface="Roboto"/>
                <a:ea typeface="Roboto"/>
                <a:cs typeface="Roboto"/>
                <a:sym typeface="Roboto"/>
              </a:rPr>
              <a:t>"title"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: title, </a:t>
            </a:r>
            <a:r>
              <a:rPr lang="en" sz="1350">
                <a:solidFill>
                  <a:srgbClr val="CA3323"/>
                </a:solidFill>
                <a:latin typeface="Roboto"/>
                <a:ea typeface="Roboto"/>
                <a:cs typeface="Roboto"/>
                <a:sym typeface="Roboto"/>
              </a:rPr>
              <a:t>"body"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: body, </a:t>
            </a:r>
            <a:r>
              <a:rPr lang="en" sz="1350">
                <a:solidFill>
                  <a:srgbClr val="CA3323"/>
                </a:solidFill>
                <a:latin typeface="Roboto"/>
                <a:ea typeface="Roboto"/>
                <a:cs typeface="Roboto"/>
                <a:sym typeface="Roboto"/>
              </a:rPr>
              <a:t>"userId"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: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userId]                                                    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    request.httpBody =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try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3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JSONSerialization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.data(withJSONObject: payload)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   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let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(data,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_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) =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try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await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session.data(for: request)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   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return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try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3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JSONDecoder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().decode(</a:t>
            </a:r>
            <a:r>
              <a:rPr lang="en" sz="13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RemotePost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.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self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, from: data)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}                                                      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func</a:t>
            </a:r>
            <a:r>
              <a:rPr lang="en" sz="135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 updatePost(id: </a:t>
            </a:r>
            <a:r>
              <a:rPr lang="en" sz="13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Int</a:t>
            </a:r>
            <a:r>
              <a:rPr lang="en" sz="135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, title: </a:t>
            </a:r>
            <a:r>
              <a:rPr lang="en" sz="13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String</a:t>
            </a:r>
            <a:r>
              <a:rPr lang="en" sz="135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, body: </a:t>
            </a:r>
            <a:r>
              <a:rPr lang="en" sz="13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String</a:t>
            </a:r>
            <a:r>
              <a:rPr lang="en" sz="135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async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throws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-&gt;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</a:t>
            </a:r>
            <a:r>
              <a:rPr lang="en" sz="13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RemotePost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{ ... }                                         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func</a:t>
            </a:r>
            <a:r>
              <a:rPr lang="en" sz="135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 deletePost(id: </a:t>
            </a:r>
            <a:r>
              <a:rPr lang="en" sz="13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Int</a:t>
            </a:r>
            <a:r>
              <a:rPr lang="en" sz="135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async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throws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{ ... }          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}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/>
              <a:t>withObservationTracking</a:t>
            </a:r>
            <a:endParaRPr sz="2600"/>
          </a:p>
        </p:txBody>
      </p:sp>
      <p:sp>
        <p:nvSpPr>
          <p:cNvPr id="169" name="Google Shape;169;p29"/>
          <p:cNvSpPr txBox="1"/>
          <p:nvPr/>
        </p:nvSpPr>
        <p:spPr>
          <a:xfrm>
            <a:off x="177800" y="819150"/>
            <a:ext cx="4524300" cy="422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private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func</a:t>
            </a:r>
            <a:r>
              <a:rPr lang="en" sz="135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 observeNetworkChanges()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{                     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var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previouslyOnline = networkMonitor.effectivelyOnline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syncObservationTask = </a:t>
            </a:r>
            <a:r>
              <a:rPr lang="en" sz="13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Task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{ </a:t>
            </a:r>
            <a:r>
              <a:rPr lang="en" sz="1350">
                <a:solidFill>
                  <a:srgbClr val="7D7D7D"/>
                </a:solidFill>
                <a:latin typeface="Roboto"/>
                <a:ea typeface="Roboto"/>
                <a:cs typeface="Roboto"/>
                <a:sym typeface="Roboto"/>
              </a:rPr>
              <a:t>@MainActor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[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weak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self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]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in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   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while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!</a:t>
            </a:r>
            <a:r>
              <a:rPr lang="en" sz="13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Task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.isCancelled {                          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       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guard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let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self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else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{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return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}                 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       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await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withCheckedContinuation { continuation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in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            withObservationTracking {                  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               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_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sz="13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self</a:t>
            </a:r>
            <a:r>
              <a:rPr lang="en" sz="1350">
                <a:latin typeface="Roboto"/>
                <a:ea typeface="Roboto"/>
                <a:cs typeface="Roboto"/>
                <a:sym typeface="Roboto"/>
              </a:rPr>
              <a:t>.networkMonitor.effectivelyOnline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            } onChange: {                              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                continuation.resume()                  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            }                                                             </a:t>
            </a:r>
            <a:endParaRPr sz="13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latin typeface="Roboto"/>
                <a:ea typeface="Roboto"/>
                <a:cs typeface="Roboto"/>
                <a:sym typeface="Roboto"/>
              </a:rPr>
              <a:t>              }            </a:t>
            </a:r>
            <a:r>
              <a:rPr lang="en" sz="1050"/>
              <a:t>                                                     </a:t>
            </a:r>
            <a:endParaRPr sz="105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                                                                                </a:t>
            </a:r>
            <a:endParaRPr sz="105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           </a:t>
            </a:r>
            <a:endParaRPr b="1" sz="1050"/>
          </a:p>
        </p:txBody>
      </p:sp>
      <p:sp>
        <p:nvSpPr>
          <p:cNvPr id="170" name="Google Shape;170;p29"/>
          <p:cNvSpPr txBox="1"/>
          <p:nvPr/>
        </p:nvSpPr>
        <p:spPr>
          <a:xfrm>
            <a:off x="4829175" y="882650"/>
            <a:ext cx="4095600" cy="415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50">
                <a:latin typeface="Roboto"/>
                <a:ea typeface="Roboto"/>
                <a:cs typeface="Roboto"/>
                <a:sym typeface="Roboto"/>
              </a:rPr>
              <a:t>   </a:t>
            </a:r>
            <a:r>
              <a:rPr lang="en" sz="16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let</a:t>
            </a:r>
            <a:r>
              <a:rPr lang="en" sz="1650">
                <a:latin typeface="Roboto"/>
                <a:ea typeface="Roboto"/>
                <a:cs typeface="Roboto"/>
                <a:sym typeface="Roboto"/>
              </a:rPr>
              <a:t> isOnline = </a:t>
            </a:r>
            <a:r>
              <a:rPr lang="en" sz="16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self</a:t>
            </a:r>
            <a:r>
              <a:rPr lang="en" sz="1650">
                <a:latin typeface="Roboto"/>
                <a:ea typeface="Roboto"/>
                <a:cs typeface="Roboto"/>
                <a:sym typeface="Roboto"/>
              </a:rPr>
              <a:t>.networkMonitor.effectivelyOnline              </a:t>
            </a:r>
            <a:endParaRPr sz="16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50">
                <a:latin typeface="Roboto"/>
                <a:ea typeface="Roboto"/>
                <a:cs typeface="Roboto"/>
                <a:sym typeface="Roboto"/>
              </a:rPr>
              <a:t>              </a:t>
            </a:r>
            <a:r>
              <a:rPr lang="en" sz="16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if</a:t>
            </a:r>
            <a:r>
              <a:rPr lang="en" sz="1650">
                <a:latin typeface="Roboto"/>
                <a:ea typeface="Roboto"/>
                <a:cs typeface="Roboto"/>
                <a:sym typeface="Roboto"/>
              </a:rPr>
              <a:t> isOnline &amp;&amp; !previouslyOnline {                                </a:t>
            </a:r>
            <a:endParaRPr sz="16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50">
                <a:latin typeface="Roboto"/>
                <a:ea typeface="Roboto"/>
                <a:cs typeface="Roboto"/>
                <a:sym typeface="Roboto"/>
              </a:rPr>
              <a:t>                  </a:t>
            </a:r>
            <a:r>
              <a:rPr lang="en" sz="16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await</a:t>
            </a:r>
            <a:r>
              <a:rPr lang="en" sz="16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6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self</a:t>
            </a:r>
            <a:r>
              <a:rPr lang="en" sz="1650">
                <a:latin typeface="Roboto"/>
                <a:ea typeface="Roboto"/>
                <a:cs typeface="Roboto"/>
                <a:sym typeface="Roboto"/>
              </a:rPr>
              <a:t>.syncService.syncPendingBooks()                     </a:t>
            </a:r>
            <a:endParaRPr sz="16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50">
                <a:latin typeface="Roboto"/>
                <a:ea typeface="Roboto"/>
                <a:cs typeface="Roboto"/>
                <a:sym typeface="Roboto"/>
              </a:rPr>
              <a:t>                  </a:t>
            </a:r>
            <a:r>
              <a:rPr lang="en" sz="16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self</a:t>
            </a:r>
            <a:r>
              <a:rPr lang="en" sz="1650">
                <a:latin typeface="Roboto"/>
                <a:ea typeface="Roboto"/>
                <a:cs typeface="Roboto"/>
                <a:sym typeface="Roboto"/>
              </a:rPr>
              <a:t>.fetchBooks()                                             </a:t>
            </a:r>
            <a:endParaRPr sz="16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50">
                <a:latin typeface="Roboto"/>
                <a:ea typeface="Roboto"/>
                <a:cs typeface="Roboto"/>
                <a:sym typeface="Roboto"/>
              </a:rPr>
              <a:t>              }                                                                 </a:t>
            </a:r>
            <a:endParaRPr sz="16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50">
                <a:latin typeface="Roboto"/>
                <a:ea typeface="Roboto"/>
                <a:cs typeface="Roboto"/>
                <a:sym typeface="Roboto"/>
              </a:rPr>
              <a:t>              previouslyOnline = isOnline                                       </a:t>
            </a:r>
            <a:endParaRPr sz="16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50">
                <a:latin typeface="Roboto"/>
                <a:ea typeface="Roboto"/>
                <a:cs typeface="Roboto"/>
                <a:sym typeface="Roboto"/>
              </a:rPr>
              <a:t>          }                                                                     </a:t>
            </a:r>
            <a:endParaRPr sz="16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50">
                <a:latin typeface="Roboto"/>
                <a:ea typeface="Roboto"/>
                <a:cs typeface="Roboto"/>
                <a:sym typeface="Roboto"/>
              </a:rPr>
              <a:t>      }                                                                         </a:t>
            </a:r>
            <a:endParaRPr sz="16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50">
                <a:latin typeface="Roboto"/>
                <a:ea typeface="Roboto"/>
                <a:cs typeface="Roboto"/>
                <a:sym typeface="Roboto"/>
              </a:rPr>
              <a:t>  }</a:t>
            </a:r>
            <a:endParaRPr sz="16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30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/>
              <a:t>Kreiranje i inicijalizacija projekta</a:t>
            </a:r>
            <a:endParaRPr sz="2600"/>
          </a:p>
        </p:txBody>
      </p:sp>
      <p:sp>
        <p:nvSpPr>
          <p:cNvPr id="176" name="Google Shape;176;p30"/>
          <p:cNvSpPr txBox="1"/>
          <p:nvPr/>
        </p:nvSpPr>
        <p:spPr>
          <a:xfrm>
            <a:off x="193675" y="723900"/>
            <a:ext cx="8731200" cy="42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Preduslovi:                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• Xcode 15+              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• iOS 17.0 simulator ili uređaj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• Homebrew + XcodeGen    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• macOS Sonoma ili noviji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Inicijalizacija projekta   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1. Instaliranje XcodeGen-a 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 brew install xcodegen                                                                         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2. Kloniranje repozitorijuma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 git clone &lt;repo-url&gt;    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 cd elfak-advanced-software-engineering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1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/>
              <a:t>Generisanje i pokretanje</a:t>
            </a:r>
            <a:endParaRPr sz="2600"/>
          </a:p>
        </p:txBody>
      </p:sp>
      <p:sp>
        <p:nvSpPr>
          <p:cNvPr id="182" name="Google Shape;182;p31"/>
          <p:cNvSpPr txBox="1"/>
          <p:nvPr/>
        </p:nvSpPr>
        <p:spPr>
          <a:xfrm>
            <a:off x="225425" y="898525"/>
            <a:ext cx="8699400" cy="406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3. Generisanje Xcode projekta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 xcodegen generate       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4. Otvaranje projekta      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 open “Trusty Bookshelf.xcodeproj”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5. Pokretanje              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 Xcode → Run (⌘R)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/>
              <a:t>Struktura fajlova</a:t>
            </a:r>
            <a:endParaRPr sz="2600"/>
          </a:p>
        </p:txBody>
      </p:sp>
      <p:pic>
        <p:nvPicPr>
          <p:cNvPr id="188" name="Google Shape;188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06525" y="771450"/>
            <a:ext cx="2743679" cy="4219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61350" y="1292188"/>
            <a:ext cx="3145950" cy="3178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3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/>
              <a:t>Testiranje</a:t>
            </a:r>
            <a:endParaRPr sz="2600"/>
          </a:p>
        </p:txBody>
      </p:sp>
      <p:sp>
        <p:nvSpPr>
          <p:cNvPr id="195" name="Google Shape;195;p33"/>
          <p:cNvSpPr txBox="1"/>
          <p:nvPr/>
        </p:nvSpPr>
        <p:spPr>
          <a:xfrm>
            <a:off x="241300" y="930275"/>
            <a:ext cx="8683500" cy="40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18 unit testova              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BooksViewModelTests (9)    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• addBook_whileOffline_isPending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• updateBook_marksPending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• deleteBook_onlyRemovesTargetBook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SyncServiceTests (9)      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• failedBooks_areRetried 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• concurrentSyncCalls_doNotDuplicate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• newBook_usesCreate / existingBook_usesUpdate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4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/>
              <a:t>Test strategija - SyncServiceTests.swift</a:t>
            </a:r>
            <a:endParaRPr sz="2600"/>
          </a:p>
        </p:txBody>
      </p:sp>
      <p:sp>
        <p:nvSpPr>
          <p:cNvPr id="201" name="Google Shape;201;p34"/>
          <p:cNvSpPr txBox="1"/>
          <p:nvPr/>
        </p:nvSpPr>
        <p:spPr>
          <a:xfrm>
            <a:off x="161925" y="771525"/>
            <a:ext cx="4410000" cy="412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final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class MockAPIService: APIService 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{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var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shouldFail =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false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var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createCallCount = </a:t>
            </a:r>
            <a:r>
              <a:rPr lang="en" sz="1050">
                <a:solidFill>
                  <a:srgbClr val="39C026"/>
                </a:solidFill>
                <a:latin typeface="Roboto"/>
                <a:ea typeface="Roboto"/>
                <a:cs typeface="Roboto"/>
                <a:sym typeface="Roboto"/>
              </a:rPr>
              <a:t>0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var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updateCallCount = </a:t>
            </a:r>
            <a:r>
              <a:rPr lang="en" sz="1050">
                <a:solidFill>
                  <a:srgbClr val="39C026"/>
                </a:solidFill>
                <a:latin typeface="Roboto"/>
                <a:ea typeface="Roboto"/>
                <a:cs typeface="Roboto"/>
                <a:sym typeface="Roboto"/>
              </a:rPr>
              <a:t>0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override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func</a:t>
            </a:r>
            <a:r>
              <a:rPr lang="en" sz="105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 createPost(title: </a:t>
            </a:r>
            <a:r>
              <a:rPr lang="en" sz="10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String</a:t>
            </a:r>
            <a:r>
              <a:rPr lang="en" sz="105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, body: </a:t>
            </a:r>
            <a:r>
              <a:rPr lang="en" sz="10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String</a:t>
            </a:r>
            <a:r>
              <a:rPr lang="en" sz="105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,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</a:t>
            </a:r>
            <a:r>
              <a:rPr lang="en" sz="105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                             userId: </a:t>
            </a:r>
            <a:r>
              <a:rPr lang="en" sz="10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Int</a:t>
            </a:r>
            <a:r>
              <a:rPr lang="en" sz="105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sz="1050">
                <a:solidFill>
                  <a:srgbClr val="39C026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r>
              <a:rPr lang="en" sz="105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async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throws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-&gt; </a:t>
            </a:r>
            <a:r>
              <a:rPr lang="en" sz="10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RemotePost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{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createCallCount += </a:t>
            </a:r>
            <a:r>
              <a:rPr lang="en" sz="1050">
                <a:solidFill>
                  <a:srgbClr val="39C026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if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shouldFail {      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throw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0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APIError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.networkError(</a:t>
            </a:r>
            <a:r>
              <a:rPr lang="en" sz="10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URLError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(.notConnectedToInternet))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}                    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return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0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RemotePost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(id: </a:t>
            </a:r>
            <a:r>
              <a:rPr lang="en" sz="1050">
                <a:solidFill>
                  <a:srgbClr val="39C026"/>
                </a:solidFill>
                <a:latin typeface="Roboto"/>
                <a:ea typeface="Roboto"/>
                <a:cs typeface="Roboto"/>
                <a:sym typeface="Roboto"/>
              </a:rPr>
              <a:t>101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, title: title, body: body, userId: userId)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}                        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override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func</a:t>
            </a:r>
            <a:r>
              <a:rPr lang="en" sz="105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 updatePost(id: </a:t>
            </a:r>
            <a:r>
              <a:rPr lang="en" sz="10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Int</a:t>
            </a:r>
            <a:r>
              <a:rPr lang="en" sz="105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, title: </a:t>
            </a:r>
            <a:r>
              <a:rPr lang="en" sz="10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String</a:t>
            </a:r>
            <a:r>
              <a:rPr lang="en" sz="105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,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</a:t>
            </a:r>
            <a:r>
              <a:rPr lang="en" sz="105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                             body: </a:t>
            </a:r>
            <a:r>
              <a:rPr lang="en" sz="10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String</a:t>
            </a:r>
            <a:r>
              <a:rPr lang="en" sz="105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async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throws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-&gt; </a:t>
            </a:r>
            <a:r>
              <a:rPr lang="en" sz="10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RemotePost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{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updateCallCount += </a:t>
            </a:r>
            <a:r>
              <a:rPr lang="en" sz="1050">
                <a:solidFill>
                  <a:srgbClr val="39C026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if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shouldFail {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throw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0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APIError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.networkError(...) }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return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0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RemotePost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(id: id, title: title, body: body, userId: </a:t>
            </a:r>
            <a:r>
              <a:rPr lang="en" sz="1050">
                <a:solidFill>
                  <a:srgbClr val="39C026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)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}                        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}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2" name="Google Shape;202;p34"/>
          <p:cNvSpPr txBox="1"/>
          <p:nvPr/>
        </p:nvSpPr>
        <p:spPr>
          <a:xfrm>
            <a:off x="4572000" y="835025"/>
            <a:ext cx="4353000" cy="420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// setUp    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persistence = </a:t>
            </a:r>
            <a:r>
              <a:rPr lang="en" sz="10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PersistenceController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(inMemory: </a:t>
            </a:r>
            <a:r>
              <a:rPr lang="en" sz="10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true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)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mockAPI     = </a:t>
            </a:r>
            <a:r>
              <a:rPr lang="en" sz="10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MockAPIService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()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syncService = </a:t>
            </a:r>
            <a:r>
              <a:rPr lang="en" sz="10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SyncService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(persistence: persistence, api: mockAPI)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50">
                <a:latin typeface="Roboto"/>
                <a:ea typeface="Roboto"/>
                <a:cs typeface="Roboto"/>
                <a:sym typeface="Roboto"/>
              </a:rPr>
              <a:t> Jedan konkretan test:      </a:t>
            </a: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             </a:t>
            </a:r>
            <a:endParaRPr sz="10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1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1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func</a:t>
            </a:r>
            <a:r>
              <a:rPr lang="en" sz="1150">
                <a:solidFill>
                  <a:srgbClr val="AAAB25"/>
                </a:solidFill>
                <a:latin typeface="Roboto"/>
                <a:ea typeface="Roboto"/>
                <a:cs typeface="Roboto"/>
                <a:sym typeface="Roboto"/>
              </a:rPr>
              <a:t> test_concurrentSyncCalls_doNotDuplicate()</a:t>
            </a:r>
            <a:r>
              <a:rPr lang="en" sz="11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1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async</a:t>
            </a:r>
            <a:r>
              <a:rPr lang="en" sz="11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1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throws</a:t>
            </a:r>
            <a:r>
              <a:rPr lang="en" sz="1150">
                <a:latin typeface="Roboto"/>
                <a:ea typeface="Roboto"/>
                <a:cs typeface="Roboto"/>
                <a:sym typeface="Roboto"/>
              </a:rPr>
              <a:t> {                 </a:t>
            </a:r>
            <a:endParaRPr sz="11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1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let</a:t>
            </a:r>
            <a:r>
              <a:rPr lang="en" sz="1150">
                <a:latin typeface="Roboto"/>
                <a:ea typeface="Roboto"/>
                <a:cs typeface="Roboto"/>
                <a:sym typeface="Roboto"/>
              </a:rPr>
              <a:t> ctx = persistence.viewContext                                         </a:t>
            </a:r>
            <a:endParaRPr sz="11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1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_</a:t>
            </a:r>
            <a:r>
              <a:rPr lang="en" sz="1150">
                <a:latin typeface="Roboto"/>
                <a:ea typeface="Roboto"/>
                <a:cs typeface="Roboto"/>
                <a:sym typeface="Roboto"/>
              </a:rPr>
              <a:t> = makeEntity(in: ctx, title: </a:t>
            </a:r>
            <a:r>
              <a:rPr lang="en" sz="1150">
                <a:solidFill>
                  <a:srgbClr val="CA3323"/>
                </a:solidFill>
                <a:latin typeface="Roboto"/>
                <a:ea typeface="Roboto"/>
                <a:cs typeface="Roboto"/>
                <a:sym typeface="Roboto"/>
              </a:rPr>
              <a:t>"Once Only"</a:t>
            </a:r>
            <a:r>
              <a:rPr lang="en" sz="1150">
                <a:latin typeface="Roboto"/>
                <a:ea typeface="Roboto"/>
                <a:cs typeface="Roboto"/>
                <a:sym typeface="Roboto"/>
              </a:rPr>
              <a:t>)                               </a:t>
            </a:r>
            <a:endParaRPr sz="11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1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try</a:t>
            </a:r>
            <a:r>
              <a:rPr lang="en" sz="1150">
                <a:latin typeface="Roboto"/>
                <a:ea typeface="Roboto"/>
                <a:cs typeface="Roboto"/>
                <a:sym typeface="Roboto"/>
              </a:rPr>
              <a:t> ctx.save()                                                            </a:t>
            </a:r>
            <a:endParaRPr sz="11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             </a:t>
            </a:r>
            <a:endParaRPr sz="11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1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async</a:t>
            </a:r>
            <a:r>
              <a:rPr lang="en" sz="11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1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let</a:t>
            </a:r>
            <a:r>
              <a:rPr lang="en" sz="1150">
                <a:latin typeface="Roboto"/>
                <a:ea typeface="Roboto"/>
                <a:cs typeface="Roboto"/>
                <a:sym typeface="Roboto"/>
              </a:rPr>
              <a:t> first  = syncService.syncPendingBooks()                         </a:t>
            </a:r>
            <a:endParaRPr sz="11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1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async</a:t>
            </a:r>
            <a:r>
              <a:rPr lang="en" sz="115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1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let</a:t>
            </a:r>
            <a:r>
              <a:rPr lang="en" sz="1150">
                <a:latin typeface="Roboto"/>
                <a:ea typeface="Roboto"/>
                <a:cs typeface="Roboto"/>
                <a:sym typeface="Roboto"/>
              </a:rPr>
              <a:t> second = syncService.syncPendingBooks()                         </a:t>
            </a:r>
            <a:endParaRPr sz="11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1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_</a:t>
            </a:r>
            <a:r>
              <a:rPr lang="en" sz="1150"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sz="1150">
                <a:solidFill>
                  <a:srgbClr val="5620F4"/>
                </a:solidFill>
                <a:latin typeface="Roboto"/>
                <a:ea typeface="Roboto"/>
                <a:cs typeface="Roboto"/>
                <a:sym typeface="Roboto"/>
              </a:rPr>
              <a:t>await</a:t>
            </a:r>
            <a:r>
              <a:rPr lang="en" sz="1150">
                <a:latin typeface="Roboto"/>
                <a:ea typeface="Roboto"/>
                <a:cs typeface="Roboto"/>
                <a:sym typeface="Roboto"/>
              </a:rPr>
              <a:t> (first, second)                                                 </a:t>
            </a:r>
            <a:endParaRPr sz="11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             </a:t>
            </a:r>
            <a:endParaRPr sz="11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en" sz="1150">
                <a:solidFill>
                  <a:srgbClr val="24585D"/>
                </a:solidFill>
                <a:latin typeface="Roboto"/>
                <a:ea typeface="Roboto"/>
                <a:cs typeface="Roboto"/>
                <a:sym typeface="Roboto"/>
              </a:rPr>
              <a:t>XCTAssertLessThanOrEqual</a:t>
            </a:r>
            <a:r>
              <a:rPr lang="en" sz="1150">
                <a:latin typeface="Roboto"/>
                <a:ea typeface="Roboto"/>
                <a:cs typeface="Roboto"/>
                <a:sym typeface="Roboto"/>
              </a:rPr>
              <a:t>(mockAPI.createCallCount, </a:t>
            </a:r>
            <a:r>
              <a:rPr lang="en" sz="1150">
                <a:solidFill>
                  <a:srgbClr val="39C026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r>
              <a:rPr lang="en" sz="1150">
                <a:latin typeface="Roboto"/>
                <a:ea typeface="Roboto"/>
                <a:cs typeface="Roboto"/>
                <a:sym typeface="Roboto"/>
              </a:rPr>
              <a:t>,                      </a:t>
            </a:r>
            <a:endParaRPr sz="11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latin typeface="Roboto"/>
                <a:ea typeface="Roboto"/>
                <a:cs typeface="Roboto"/>
                <a:sym typeface="Roboto"/>
              </a:rPr>
              <a:t>          </a:t>
            </a:r>
            <a:r>
              <a:rPr lang="en" sz="1150">
                <a:solidFill>
                  <a:srgbClr val="CA3323"/>
                </a:solidFill>
                <a:latin typeface="Roboto"/>
                <a:ea typeface="Roboto"/>
                <a:cs typeface="Roboto"/>
                <a:sym typeface="Roboto"/>
              </a:rPr>
              <a:t>"Concurrent sync calls must not duplicate API requests"</a:t>
            </a:r>
            <a:r>
              <a:rPr lang="en" sz="1150">
                <a:latin typeface="Roboto"/>
                <a:ea typeface="Roboto"/>
                <a:cs typeface="Roboto"/>
                <a:sym typeface="Roboto"/>
              </a:rPr>
              <a:t>)              </a:t>
            </a:r>
            <a:endParaRPr sz="115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latin typeface="Roboto"/>
                <a:ea typeface="Roboto"/>
                <a:cs typeface="Roboto"/>
                <a:sym typeface="Roboto"/>
              </a:rPr>
              <a:t>  }</a:t>
            </a:r>
            <a:endParaRPr sz="115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5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/>
              <a:t>Pokretanje testova</a:t>
            </a:r>
            <a:endParaRPr sz="2600"/>
          </a:p>
        </p:txBody>
      </p:sp>
      <p:sp>
        <p:nvSpPr>
          <p:cNvPr id="208" name="Google Shape;208;p35"/>
          <p:cNvSpPr txBox="1"/>
          <p:nvPr/>
        </p:nvSpPr>
        <p:spPr>
          <a:xfrm>
            <a:off x="177800" y="882650"/>
            <a:ext cx="8715300" cy="39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U Xcode-u:                 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Product → Test  (⌘U)     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                         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Iz terminala:              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xcodebuild test \        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  -project “Trusty Bookshelf.xcodeproj” \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  -scheme Bookshelf \                                                       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     -destination 'platform=iOS Simulator,name=iPhone 15 Pro'</a:t>
            </a:r>
            <a:endParaRPr sz="20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6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/>
              <a:t>Ograničenja i unapređenja</a:t>
            </a:r>
            <a:endParaRPr sz="2600"/>
          </a:p>
        </p:txBody>
      </p:sp>
      <p:sp>
        <p:nvSpPr>
          <p:cNvPr id="214" name="Google Shape;214;p36"/>
          <p:cNvSpPr txBox="1"/>
          <p:nvPr/>
        </p:nvSpPr>
        <p:spPr>
          <a:xfrm>
            <a:off x="177800" y="819150"/>
            <a:ext cx="8747100" cy="406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Ograničenja</a:t>
            </a:r>
            <a:endParaRPr sz="20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Roboto"/>
              <a:buChar char="●"/>
            </a:pPr>
            <a:r>
              <a:rPr lang="en" sz="2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Nema autentifikacije</a:t>
            </a:r>
            <a:endParaRPr sz="20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Roboto"/>
              <a:buChar char="●"/>
            </a:pPr>
            <a:r>
              <a:rPr lang="en" sz="2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Mock API</a:t>
            </a:r>
            <a:endParaRPr sz="20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Roboto"/>
              <a:buChar char="●"/>
            </a:pPr>
            <a:r>
              <a:rPr lang="en" sz="2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Last-Write-Wins merge</a:t>
            </a:r>
            <a:endParaRPr sz="20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Roboto"/>
              <a:buChar char="●"/>
            </a:pPr>
            <a:r>
              <a:rPr lang="en" sz="2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Nema background sync između pokretanja</a:t>
            </a:r>
            <a:endParaRPr sz="20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Unapređenja</a:t>
            </a:r>
            <a:endParaRPr sz="20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Roboto"/>
              <a:buChar char="●"/>
            </a:pPr>
            <a:r>
              <a:rPr lang="en" sz="2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SwiftData (naslednik CoreData)</a:t>
            </a:r>
            <a:endParaRPr sz="20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Roboto"/>
              <a:buChar char="●"/>
            </a:pPr>
            <a:r>
              <a:rPr lang="en" sz="2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Cloudkit (Apple-ov sync)</a:t>
            </a:r>
            <a:endParaRPr sz="20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Roboto"/>
              <a:buChar char="●"/>
            </a:pPr>
            <a:r>
              <a:rPr lang="en" sz="2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CRDTs za kolaboraciju</a:t>
            </a:r>
            <a:endParaRPr sz="20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Roboto"/>
              <a:buChar char="●"/>
            </a:pPr>
            <a:r>
              <a:rPr lang="en" sz="2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Šifrovanje lokalne baze</a:t>
            </a:r>
            <a:endParaRPr sz="20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7"/>
          <p:cNvSpPr txBox="1"/>
          <p:nvPr>
            <p:ph type="title"/>
          </p:nvPr>
        </p:nvSpPr>
        <p:spPr>
          <a:xfrm>
            <a:off x="241953" y="2095050"/>
            <a:ext cx="2808000" cy="953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/>
              <a:t>Demonstracija aplikacije</a:t>
            </a:r>
            <a:endParaRPr sz="3200"/>
          </a:p>
        </p:txBody>
      </p:sp>
      <p:pic>
        <p:nvPicPr>
          <p:cNvPr id="220" name="Google Shape;220;p37" title="Screen Recording 2026-02-17 at 16.47.28.mov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2350" y="0"/>
            <a:ext cx="3941024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8"/>
          <p:cNvSpPr txBox="1"/>
          <p:nvPr>
            <p:ph type="title"/>
          </p:nvPr>
        </p:nvSpPr>
        <p:spPr>
          <a:xfrm>
            <a:off x="460950" y="2065350"/>
            <a:ext cx="8222100" cy="101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Hvala na pažnji!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Material">
  <a:themeElements>
    <a:clrScheme name="Material">
      <a:dk1>
        <a:srgbClr val="4285F4"/>
      </a:dk1>
      <a:lt1>
        <a:srgbClr val="FFFFFF"/>
      </a:lt1>
      <a:dk2>
        <a:srgbClr val="424242"/>
      </a:dk2>
      <a:lt2>
        <a:srgbClr val="73737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1A237E"/>
      </a:accent5>
      <a:accent6>
        <a:srgbClr val="F4B400"/>
      </a:accent6>
      <a:hlink>
        <a:srgbClr val="1A237E"/>
      </a:hlink>
      <a:folHlink>
        <a:srgbClr val="1A2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